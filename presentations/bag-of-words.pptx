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311" r:id="rId5"/>
    <p:sldId id="4752" r:id="rId6"/>
    <p:sldId id="4753" r:id="rId7"/>
    <p:sldId id="546" r:id="rId8"/>
    <p:sldId id="271" r:id="rId9"/>
    <p:sldId id="4810" r:id="rId10"/>
    <p:sldId id="4811" r:id="rId11"/>
    <p:sldId id="3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06DE9B2-5587-B646-BEE3-5A646955262F}">
          <p14:sldIdLst>
            <p14:sldId id="311"/>
            <p14:sldId id="4752"/>
            <p14:sldId id="4753"/>
            <p14:sldId id="546"/>
            <p14:sldId id="271"/>
            <p14:sldId id="4810"/>
            <p14:sldId id="4811"/>
            <p14:sldId id="303"/>
          </p14:sldIdLst>
        </p14:section>
        <p14:section name="End of presentation slide" id="{FA6E58FB-4655-4ADA-838A-304575EC2E6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ty, Anne" initials="CA" lastIdx="5" clrIdx="0">
    <p:extLst>
      <p:ext uri="{19B8F6BF-5375-455C-9EA6-DF929625EA0E}">
        <p15:presenceInfo xmlns:p15="http://schemas.microsoft.com/office/powerpoint/2012/main" userId="S::k1771048@kcl.ac.uk::58c097d6-c91f-4fc1-8022-8a02e1ab2328" providerId="AD"/>
      </p:ext>
    </p:extLst>
  </p:cmAuthor>
  <p:cmAuthor id="2" name="user" initials="u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A0"/>
    <a:srgbClr val="C8E128"/>
    <a:srgbClr val="0A2D50"/>
    <a:srgbClr val="5A6469"/>
    <a:srgbClr val="002395"/>
    <a:srgbClr val="501491"/>
    <a:srgbClr val="99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2" autoAdjust="0"/>
    <p:restoredTop sz="86301" autoAdjust="0"/>
  </p:normalViewPr>
  <p:slideViewPr>
    <p:cSldViewPr snapToGrid="0">
      <p:cViewPr varScale="1">
        <p:scale>
          <a:sx n="109" d="100"/>
          <a:sy n="109" d="100"/>
        </p:scale>
        <p:origin x="129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20CBB-D972-D444-8592-B23A7758CEF7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B49CD-7E1B-C543-B23F-34FDB672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4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17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15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07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UK Cover slide">
    <p:bg>
      <p:bgPr>
        <a:solidFill>
          <a:srgbClr val="CD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05DBA87-7AB9-4144-A17F-43A9C30380F1}"/>
              </a:ext>
            </a:extLst>
          </p:cNvPr>
          <p:cNvGrpSpPr/>
          <p:nvPr userDrawn="1"/>
        </p:nvGrpSpPr>
        <p:grpSpPr>
          <a:xfrm>
            <a:off x="2744511" y="869793"/>
            <a:ext cx="6692677" cy="5118415"/>
            <a:chOff x="1211282" y="869792"/>
            <a:chExt cx="6721435" cy="51184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CAA9C9-0BE4-5F43-B408-44CF4ECDD428}"/>
                </a:ext>
              </a:extLst>
            </p:cNvPr>
            <p:cNvSpPr/>
            <p:nvPr userDrawn="1"/>
          </p:nvSpPr>
          <p:spPr>
            <a:xfrm>
              <a:off x="1211282" y="869792"/>
              <a:ext cx="6721435" cy="5118415"/>
            </a:xfrm>
            <a:prstGeom prst="rect">
              <a:avLst/>
            </a:prstGeom>
            <a:solidFill>
              <a:srgbClr val="E223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5" name="KCL-LOGO-INTERNATIONAL.png">
              <a:extLst>
                <a:ext uri="{FF2B5EF4-FFF2-40B4-BE49-F238E27FC236}">
                  <a16:creationId xmlns:a16="http://schemas.microsoft.com/office/drawing/2014/main" id="{B036F538-478A-B641-903C-F7985F6DF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r:link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24655" y="1671090"/>
              <a:ext cx="5127602" cy="3554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8894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wo statues in front of Bush House building&#10;&#10;">
            <a:extLst>
              <a:ext uri="{FF2B5EF4-FFF2-40B4-BE49-F238E27FC236}">
                <a16:creationId xmlns:a16="http://schemas.microsoft.com/office/drawing/2014/main" id="{F4793EB2-2819-E843-A12D-5A71221FF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6275" y="0"/>
            <a:ext cx="8125725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8102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arge brick building with a sign in front of it&#10;&#10;Description automatically generated with medium confidence">
            <a:extLst>
              <a:ext uri="{FF2B5EF4-FFF2-40B4-BE49-F238E27FC236}">
                <a16:creationId xmlns:a16="http://schemas.microsoft.com/office/drawing/2014/main" id="{6850A433-9891-9424-62CE-5B7142E9E2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1" r="26803"/>
          <a:stretch/>
        </p:blipFill>
        <p:spPr>
          <a:xfrm>
            <a:off x="4154555" y="0"/>
            <a:ext cx="8020878" cy="68572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1808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sh House entrance">
            <a:extLst>
              <a:ext uri="{FF2B5EF4-FFF2-40B4-BE49-F238E27FC236}">
                <a16:creationId xmlns:a16="http://schemas.microsoft.com/office/drawing/2014/main" id="{BB2856B8-0170-3D42-B170-7ED5ACB03B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2950" y="-736"/>
            <a:ext cx="8126158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1522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arge brick building with a sign in front of it&#10;&#10;Description automatically generated with medium confidence">
            <a:extLst>
              <a:ext uri="{FF2B5EF4-FFF2-40B4-BE49-F238E27FC236}">
                <a16:creationId xmlns:a16="http://schemas.microsoft.com/office/drawing/2014/main" id="{3A4DD4F8-76F5-A717-0A8F-608762CBB0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2" r="24679"/>
          <a:stretch/>
        </p:blipFill>
        <p:spPr>
          <a:xfrm>
            <a:off x="4065973" y="0"/>
            <a:ext cx="8116087" cy="6893221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748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sh House entrance">
            <a:extLst>
              <a:ext uri="{FF2B5EF4-FFF2-40B4-BE49-F238E27FC236}">
                <a16:creationId xmlns:a16="http://schemas.microsoft.com/office/drawing/2014/main" id="{BB2856B8-0170-3D42-B170-7ED5ACB03B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2950" y="-736"/>
            <a:ext cx="812615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872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duates standing in front of a crowd posing for the camera&#10;">
            <a:extLst>
              <a:ext uri="{FF2B5EF4-FFF2-40B4-BE49-F238E27FC236}">
                <a16:creationId xmlns:a16="http://schemas.microsoft.com/office/drawing/2014/main" id="{BE2D952E-64D5-A64E-9959-50F7F86788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3512" y="0"/>
            <a:ext cx="8125034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4653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duates standing in front of a crowd posing for the camera&#10;">
            <a:extLst>
              <a:ext uri="{FF2B5EF4-FFF2-40B4-BE49-F238E27FC236}">
                <a16:creationId xmlns:a16="http://schemas.microsoft.com/office/drawing/2014/main" id="{BE2D952E-64D5-A64E-9959-50F7F86788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3512" y="0"/>
            <a:ext cx="812503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1862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students walking around Strand Campus">
            <a:extLst>
              <a:ext uri="{FF2B5EF4-FFF2-40B4-BE49-F238E27FC236}">
                <a16:creationId xmlns:a16="http://schemas.microsoft.com/office/drawing/2014/main" id="{178B1CE5-1B5E-C947-8C99-B485A71AE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160" y="-736"/>
            <a:ext cx="8123738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4154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students walking around Strand Campus">
            <a:extLst>
              <a:ext uri="{FF2B5EF4-FFF2-40B4-BE49-F238E27FC236}">
                <a16:creationId xmlns:a16="http://schemas.microsoft.com/office/drawing/2014/main" id="{178B1CE5-1B5E-C947-8C99-B485A71AE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160" y="-736"/>
            <a:ext cx="812373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537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ullets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268715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7429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4pPr>
            <a:lvl5pPr marL="806144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5pPr>
            <a:lvl6pPr marL="2286000" indent="0">
              <a:buNone/>
              <a:defRPr/>
            </a:lvl6pPr>
          </a:lstStyle>
          <a:p>
            <a:r>
              <a:rPr lang="en-US" dirty="0"/>
              <a:t>First level bullet point (indent x0)</a:t>
            </a:r>
          </a:p>
          <a:p>
            <a:pPr lvl="3"/>
            <a:r>
              <a:rPr lang="en-US" dirty="0"/>
              <a:t>Second level bullet point (indent x1)</a:t>
            </a:r>
          </a:p>
          <a:p>
            <a:pPr lvl="4"/>
            <a:r>
              <a:rPr lang="en-US" dirty="0"/>
              <a:t>Third level bullet point (indent x2)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47274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 and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pPr marL="0" indent="0">
              <a:buNone/>
            </a:pPr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54215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GB" dirty="0"/>
              <a:t>Two columns – bullets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5075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text/bullets and image – alt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1991"/>
            </a:lvl4pPr>
            <a:lvl5pPr marL="806144" indent="-268715">
              <a:defRPr sz="1991"/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7" y="1089025"/>
            <a:ext cx="5376333" cy="48609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21960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text/bullets and image – al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text/bullets and image – alt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1" y="1088356"/>
            <a:ext cx="5376333" cy="48609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19388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bullets and image – al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bullets and image – alt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lang="en-GB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pPr lvl="0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7" y="1089025"/>
            <a:ext cx="5376333" cy="4860925"/>
          </a:xfrm>
        </p:spPr>
        <p:txBody>
          <a:bodyPr/>
          <a:lstStyle/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16388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bullets and image – al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Two columns – bullets and image – alt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342900" indent="-342900"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268714" indent="0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537429" indent="0">
              <a:buFont typeface="Arial" panose="020B0604020202020204" pitchFamily="34" charset="0"/>
              <a:buNone/>
              <a:defRPr sz="2000">
                <a:latin typeface="+mn-lt"/>
              </a:defRPr>
            </a:lvl5pPr>
            <a:lvl6pPr marL="2286000" indent="0">
              <a:buNone/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1" y="1088356"/>
            <a:ext cx="5376333" cy="4860925"/>
          </a:xfrm>
        </p:spPr>
        <p:txBody>
          <a:bodyPr/>
          <a:lstStyle/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43486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x1 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34C904-740B-E84D-B324-36B6DE7B23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425" y="1049338"/>
            <a:ext cx="11233150" cy="47587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29D345-CF89-564D-B6D0-39BB56CBE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2063" y="5949280"/>
            <a:ext cx="11280263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531880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2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1" y="5949280"/>
            <a:ext cx="11232000" cy="548720"/>
          </a:xfrm>
        </p:spPr>
        <p:txBody>
          <a:bodyPr/>
          <a:lstStyle>
            <a:lvl1pPr marL="0" indent="0">
              <a:buNone/>
              <a:defRPr sz="1394"/>
            </a:lvl1pPr>
            <a:lvl2pPr marL="455234" indent="0">
              <a:buNone/>
              <a:defRPr sz="1195"/>
            </a:lvl2pPr>
            <a:lvl3pPr marL="910468" indent="0">
              <a:buNone/>
              <a:defRPr sz="996"/>
            </a:lvl3pPr>
            <a:lvl4pPr marL="1365702" indent="0">
              <a:buNone/>
              <a:defRPr sz="896"/>
            </a:lvl4pPr>
            <a:lvl5pPr marL="1820936" indent="0">
              <a:buNone/>
              <a:defRPr sz="896"/>
            </a:lvl5pPr>
            <a:lvl6pPr marL="2276170" indent="0">
              <a:buNone/>
              <a:defRPr sz="896"/>
            </a:lvl6pPr>
            <a:lvl7pPr marL="2731404" indent="0">
              <a:buNone/>
              <a:defRPr sz="896"/>
            </a:lvl7pPr>
            <a:lvl8pPr marL="3186638" indent="0">
              <a:buNone/>
              <a:defRPr sz="896"/>
            </a:lvl8pPr>
            <a:lvl9pPr marL="3641872" indent="0">
              <a:buNone/>
              <a:defRPr sz="896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2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5999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5999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x4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416929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1" y="5949280"/>
            <a:ext cx="11232000" cy="548720"/>
          </a:xfrm>
        </p:spPr>
        <p:txBody>
          <a:bodyPr/>
          <a:lstStyle>
            <a:lvl1pPr marL="0" indent="0">
              <a:buNone/>
              <a:defRPr sz="1394"/>
            </a:lvl1pPr>
            <a:lvl2pPr marL="455234" indent="0">
              <a:buNone/>
              <a:defRPr sz="1195"/>
            </a:lvl2pPr>
            <a:lvl3pPr marL="910468" indent="0">
              <a:buNone/>
              <a:defRPr sz="996"/>
            </a:lvl3pPr>
            <a:lvl4pPr marL="1365702" indent="0">
              <a:buNone/>
              <a:defRPr sz="896"/>
            </a:lvl4pPr>
            <a:lvl5pPr marL="1820936" indent="0">
              <a:buNone/>
              <a:defRPr sz="896"/>
            </a:lvl5pPr>
            <a:lvl6pPr marL="2276170" indent="0">
              <a:buNone/>
              <a:defRPr sz="896"/>
            </a:lvl6pPr>
            <a:lvl7pPr marL="2731404" indent="0">
              <a:buNone/>
              <a:defRPr sz="896"/>
            </a:lvl7pPr>
            <a:lvl8pPr marL="3186638" indent="0">
              <a:buNone/>
              <a:defRPr sz="896"/>
            </a:lvl8pPr>
            <a:lvl9pPr marL="3641872" indent="0">
              <a:buNone/>
              <a:defRPr sz="896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0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0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x6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6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6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02871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5373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75678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6866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ky blue">
    <p:bg>
      <p:bgPr>
        <a:solidFill>
          <a:srgbClr val="99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42053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D64C56-7BE9-5D41-824D-0319FFA616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9623" y="3420000"/>
            <a:ext cx="11231999" cy="25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b="1" dirty="0">
                <a:solidFill>
                  <a:schemeClr val="bg1"/>
                </a:solidFill>
              </a:rPr>
              <a:t>Contact details/for more information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1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2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3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+44 (0)20 7848 XXXX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xxxx@kcl.ac.uk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www.kcl.ac.uk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xxxx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9623" y="2184934"/>
            <a:ext cx="7662972" cy="1053665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 userDrawn="1"/>
        </p:nvGrpSpPr>
        <p:grpSpPr>
          <a:xfrm>
            <a:off x="10489316" y="1"/>
            <a:ext cx="1702684" cy="1303021"/>
            <a:chOff x="7949775" y="1"/>
            <a:chExt cx="1194225" cy="910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9" name="KCL-LOGO-UK-1.png"/>
            <p:cNvPicPr>
              <a:picLocks noChangeAspect="1"/>
            </p:cNvPicPr>
            <p:nvPr userDrawn="1"/>
          </p:nvPicPr>
          <p:blipFill>
            <a:blip r:embed="rId2" r:link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2F5BC61-7D93-C442-AAE8-F327F7EC18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623" y="6121401"/>
            <a:ext cx="11231999" cy="380749"/>
          </a:xfrm>
        </p:spPr>
        <p:txBody>
          <a:bodyPr wrap="square">
            <a:noAutofit/>
          </a:bodyPr>
          <a:lstStyle>
            <a:lvl1pPr marL="0" marR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/>
            </a:pPr>
            <a:r>
              <a:rPr lang="en-US" sz="1600" dirty="0">
                <a:latin typeface="Georgia" panose="02040502050405020303" pitchFamily="18" charset="0"/>
              </a:rPr>
              <a:t>© 2020 King’s College London. All rights reserved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53055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ADCF-D0CA-CF64-6261-89761AB8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F135D-430E-68AE-E9B7-83B96727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4624-0223-5041-BD13-AE5BA7BAECFD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0FF8E-28AD-36BA-1434-5FCA3339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F0BC5-D5F4-0112-6A5D-BAE9B9D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9CA2-208D-294A-A693-692BB18747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598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Section Header">
  <p:cSld name="7_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2488688"/>
            <a:ext cx="9403080" cy="113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3E72"/>
              </a:buClr>
              <a:buSzPts val="4800"/>
              <a:buFont typeface="Arial"/>
              <a:buNone/>
              <a:defRPr sz="4800">
                <a:solidFill>
                  <a:srgbClr val="193E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3">
            <a:alphaModFix/>
          </a:blip>
          <a:srcRect l="34054" b="22345"/>
          <a:stretch/>
        </p:blipFill>
        <p:spPr>
          <a:xfrm>
            <a:off x="0" y="4812138"/>
            <a:ext cx="1737360" cy="2045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0129459" y="1714918"/>
            <a:ext cx="1579205" cy="11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1"/>
          <p:cNvPicPr preferRelativeResize="0"/>
          <p:nvPr/>
        </p:nvPicPr>
        <p:blipFill rotWithShape="1">
          <a:blip r:embed="rId5">
            <a:alphaModFix/>
          </a:blip>
          <a:srcRect t="3" r="6600" b="-36685"/>
          <a:stretch/>
        </p:blipFill>
        <p:spPr>
          <a:xfrm>
            <a:off x="436034" y="1131569"/>
            <a:ext cx="11387159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670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531158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491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54" r:id="rId2"/>
    <p:sldLayoutId id="2147483758" r:id="rId3"/>
    <p:sldLayoutId id="2147483755" r:id="rId4"/>
    <p:sldLayoutId id="2147483762" r:id="rId5"/>
    <p:sldLayoutId id="2147483759" r:id="rId6"/>
    <p:sldLayoutId id="2147483756" r:id="rId7"/>
    <p:sldLayoutId id="2147483760" r:id="rId8"/>
    <p:sldLayoutId id="2147483757" r:id="rId9"/>
    <p:sldLayoutId id="2147483761" r:id="rId10"/>
    <p:sldLayoutId id="2147483734" r:id="rId11"/>
    <p:sldLayoutId id="2147483725" r:id="rId12"/>
    <p:sldLayoutId id="2147483753" r:id="rId13"/>
    <p:sldLayoutId id="2147483732" r:id="rId14"/>
    <p:sldLayoutId id="2147483733" r:id="rId15"/>
    <p:sldLayoutId id="2147483751" r:id="rId16"/>
    <p:sldLayoutId id="2147483752" r:id="rId17"/>
    <p:sldLayoutId id="2147483750" r:id="rId18"/>
    <p:sldLayoutId id="2147483729" r:id="rId19"/>
    <p:sldLayoutId id="2147483728" r:id="rId20"/>
    <p:sldLayoutId id="2147483667" r:id="rId21"/>
    <p:sldLayoutId id="2147483668" r:id="rId22"/>
    <p:sldLayoutId id="2147483669" r:id="rId23"/>
    <p:sldLayoutId id="2147483670" r:id="rId24"/>
    <p:sldLayoutId id="2147483745" r:id="rId25"/>
    <p:sldLayoutId id="2147483771" r:id="rId26"/>
    <p:sldLayoutId id="2147483772" r:id="rId27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0A2D50"/>
          </a:solidFill>
          <a:latin typeface="+mj-l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A51FB4-4CE5-F14B-23FF-03C28457B7FA}"/>
              </a:ext>
            </a:extLst>
          </p:cNvPr>
          <p:cNvSpPr/>
          <p:nvPr/>
        </p:nvSpPr>
        <p:spPr>
          <a:xfrm>
            <a:off x="0" y="5560226"/>
            <a:ext cx="4143737" cy="12977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F4094-AE10-0346-AAE0-F05B430E5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718" y="302678"/>
            <a:ext cx="3833019" cy="2953816"/>
          </a:xfrm>
        </p:spPr>
        <p:txBody>
          <a:bodyPr>
            <a:normAutofit/>
          </a:bodyPr>
          <a:lstStyle/>
          <a:p>
            <a:r>
              <a:rPr lang="en-US" sz="2800" dirty="0"/>
              <a:t>A simple document model: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Bag-of-Words</a:t>
            </a:r>
            <a:br>
              <a:rPr lang="en-US" sz="2800" dirty="0"/>
            </a:br>
            <a:br>
              <a:rPr lang="en-US" sz="2800" dirty="0"/>
            </a:br>
            <a:endParaRPr lang="en-US" sz="28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F7407-FC44-F2C2-F2F9-4B8B7FE1F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9" y="5835322"/>
            <a:ext cx="305084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862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E33E59-A823-E6F0-1E2A-7FA46208F1ED}"/>
              </a:ext>
            </a:extLst>
          </p:cNvPr>
          <p:cNvSpPr txBox="1"/>
          <p:nvPr/>
        </p:nvSpPr>
        <p:spPr>
          <a:xfrm>
            <a:off x="7659602" y="5675187"/>
            <a:ext cx="424026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/[0-9]+ *[Mm].?[Gg].?/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CEAD9C-6939-9FE3-849F-05DF389691CB}"/>
              </a:ext>
            </a:extLst>
          </p:cNvPr>
          <p:cNvGrpSpPr/>
          <p:nvPr/>
        </p:nvGrpSpPr>
        <p:grpSpPr>
          <a:xfrm>
            <a:off x="8909434" y="3315266"/>
            <a:ext cx="1714500" cy="1272230"/>
            <a:chOff x="2654300" y="2971781"/>
            <a:chExt cx="2387600" cy="19050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1E48FB8-5907-1C63-5D20-8D3A1A9C7084}"/>
                </a:ext>
              </a:extLst>
            </p:cNvPr>
            <p:cNvSpPr/>
            <p:nvPr/>
          </p:nvSpPr>
          <p:spPr>
            <a:xfrm>
              <a:off x="2654300" y="3429000"/>
              <a:ext cx="495300" cy="495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400" b="1" dirty="0">
                <a:solidFill>
                  <a:schemeClr val="tx1"/>
                </a:solidFill>
                <a:cs typeface="Georgia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3CEDD2-6F64-3D2F-2E3B-7459F0F1FA45}"/>
                </a:ext>
              </a:extLst>
            </p:cNvPr>
            <p:cNvSpPr/>
            <p:nvPr/>
          </p:nvSpPr>
          <p:spPr>
            <a:xfrm>
              <a:off x="4546600" y="3429000"/>
              <a:ext cx="495300" cy="495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400" b="1" dirty="0">
                <a:solidFill>
                  <a:schemeClr val="tx1"/>
                </a:solidFill>
                <a:cs typeface="Georgia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A8DF0B5-D97C-FA30-6F96-08DDB1132253}"/>
                </a:ext>
              </a:extLst>
            </p:cNvPr>
            <p:cNvSpPr/>
            <p:nvPr/>
          </p:nvSpPr>
          <p:spPr>
            <a:xfrm>
              <a:off x="3600450" y="4381501"/>
              <a:ext cx="495300" cy="495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400" b="1" dirty="0">
                <a:solidFill>
                  <a:schemeClr val="tx1"/>
                </a:solidFill>
                <a:cs typeface="Georgia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F760D10-0D28-AD46-ECA1-22FD7EEA0920}"/>
                </a:ext>
              </a:extLst>
            </p:cNvPr>
            <p:cNvSpPr/>
            <p:nvPr/>
          </p:nvSpPr>
          <p:spPr>
            <a:xfrm>
              <a:off x="3149600" y="3174869"/>
              <a:ext cx="1384300" cy="482731"/>
            </a:xfrm>
            <a:custGeom>
              <a:avLst/>
              <a:gdLst>
                <a:gd name="connsiteX0" fmla="*/ 0 w 1384300"/>
                <a:gd name="connsiteY0" fmla="*/ 482731 h 482731"/>
                <a:gd name="connsiteX1" fmla="*/ 596900 w 1384300"/>
                <a:gd name="connsiteY1" fmla="*/ 131 h 482731"/>
                <a:gd name="connsiteX2" fmla="*/ 1384300 w 1384300"/>
                <a:gd name="connsiteY2" fmla="*/ 444631 h 48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4300" h="482731">
                  <a:moveTo>
                    <a:pt x="0" y="482731"/>
                  </a:moveTo>
                  <a:cubicBezTo>
                    <a:pt x="183091" y="244606"/>
                    <a:pt x="366183" y="6481"/>
                    <a:pt x="596900" y="131"/>
                  </a:cubicBezTo>
                  <a:cubicBezTo>
                    <a:pt x="827617" y="-6219"/>
                    <a:pt x="1105958" y="219206"/>
                    <a:pt x="1384300" y="444631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248C1C2-D298-D81F-1BC0-1F549C00FE67}"/>
                </a:ext>
              </a:extLst>
            </p:cNvPr>
            <p:cNvSpPr/>
            <p:nvPr/>
          </p:nvSpPr>
          <p:spPr>
            <a:xfrm>
              <a:off x="3175000" y="3695700"/>
              <a:ext cx="1358900" cy="393735"/>
            </a:xfrm>
            <a:custGeom>
              <a:avLst/>
              <a:gdLst>
                <a:gd name="connsiteX0" fmla="*/ 1358900 w 1358900"/>
                <a:gd name="connsiteY0" fmla="*/ 0 h 393735"/>
                <a:gd name="connsiteX1" fmla="*/ 762000 w 1358900"/>
                <a:gd name="connsiteY1" fmla="*/ 393700 h 393735"/>
                <a:gd name="connsiteX2" fmla="*/ 0 w 1358900"/>
                <a:gd name="connsiteY2" fmla="*/ 25400 h 393735"/>
                <a:gd name="connsiteX3" fmla="*/ 0 w 1358900"/>
                <a:gd name="connsiteY3" fmla="*/ 25400 h 39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393735">
                  <a:moveTo>
                    <a:pt x="1358900" y="0"/>
                  </a:moveTo>
                  <a:cubicBezTo>
                    <a:pt x="1173691" y="194733"/>
                    <a:pt x="988483" y="389467"/>
                    <a:pt x="762000" y="393700"/>
                  </a:cubicBezTo>
                  <a:cubicBezTo>
                    <a:pt x="535517" y="397933"/>
                    <a:pt x="0" y="25400"/>
                    <a:pt x="0" y="25400"/>
                  </a:cubicBezTo>
                  <a:lnTo>
                    <a:pt x="0" y="2540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580EAD0-939A-A30F-F202-291117E23A5F}"/>
                </a:ext>
              </a:extLst>
            </p:cNvPr>
            <p:cNvSpPr/>
            <p:nvPr/>
          </p:nvSpPr>
          <p:spPr>
            <a:xfrm>
              <a:off x="2678885" y="2971781"/>
              <a:ext cx="648672" cy="469919"/>
            </a:xfrm>
            <a:custGeom>
              <a:avLst/>
              <a:gdLst>
                <a:gd name="connsiteX0" fmla="*/ 280215 w 648672"/>
                <a:gd name="connsiteY0" fmla="*/ 469919 h 469919"/>
                <a:gd name="connsiteX1" fmla="*/ 648515 w 648672"/>
                <a:gd name="connsiteY1" fmla="*/ 254019 h 469919"/>
                <a:gd name="connsiteX2" fmla="*/ 242115 w 648672"/>
                <a:gd name="connsiteY2" fmla="*/ 19 h 469919"/>
                <a:gd name="connsiteX3" fmla="*/ 815 w 648672"/>
                <a:gd name="connsiteY3" fmla="*/ 241319 h 469919"/>
                <a:gd name="connsiteX4" fmla="*/ 178615 w 648672"/>
                <a:gd name="connsiteY4" fmla="*/ 444519 h 46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672" h="469919">
                  <a:moveTo>
                    <a:pt x="280215" y="469919"/>
                  </a:moveTo>
                  <a:cubicBezTo>
                    <a:pt x="467540" y="401127"/>
                    <a:pt x="654865" y="332336"/>
                    <a:pt x="648515" y="254019"/>
                  </a:cubicBezTo>
                  <a:cubicBezTo>
                    <a:pt x="642165" y="175702"/>
                    <a:pt x="350065" y="2136"/>
                    <a:pt x="242115" y="19"/>
                  </a:cubicBezTo>
                  <a:cubicBezTo>
                    <a:pt x="134165" y="-2098"/>
                    <a:pt x="11398" y="167236"/>
                    <a:pt x="815" y="241319"/>
                  </a:cubicBezTo>
                  <a:cubicBezTo>
                    <a:pt x="-9768" y="315402"/>
                    <a:pt x="84423" y="379960"/>
                    <a:pt x="178615" y="444519"/>
                  </a:cubicBez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4E44A3A-2524-B3C8-5D9B-4D24748AB847}"/>
                </a:ext>
              </a:extLst>
            </p:cNvPr>
            <p:cNvSpPr/>
            <p:nvPr/>
          </p:nvSpPr>
          <p:spPr>
            <a:xfrm>
              <a:off x="4114800" y="3924300"/>
              <a:ext cx="702274" cy="723900"/>
            </a:xfrm>
            <a:custGeom>
              <a:avLst/>
              <a:gdLst>
                <a:gd name="connsiteX0" fmla="*/ 622300 w 702274"/>
                <a:gd name="connsiteY0" fmla="*/ 0 h 723900"/>
                <a:gd name="connsiteX1" fmla="*/ 647700 w 702274"/>
                <a:gd name="connsiteY1" fmla="*/ 444500 h 723900"/>
                <a:gd name="connsiteX2" fmla="*/ 0 w 702274"/>
                <a:gd name="connsiteY2" fmla="*/ 723900 h 723900"/>
                <a:gd name="connsiteX3" fmla="*/ 0 w 702274"/>
                <a:gd name="connsiteY3" fmla="*/ 7239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274" h="723900">
                  <a:moveTo>
                    <a:pt x="622300" y="0"/>
                  </a:moveTo>
                  <a:cubicBezTo>
                    <a:pt x="686858" y="161925"/>
                    <a:pt x="751417" y="323850"/>
                    <a:pt x="647700" y="444500"/>
                  </a:cubicBezTo>
                  <a:cubicBezTo>
                    <a:pt x="543983" y="565150"/>
                    <a:pt x="0" y="723900"/>
                    <a:pt x="0" y="723900"/>
                  </a:cubicBezTo>
                  <a:lnTo>
                    <a:pt x="0" y="72390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F878DF7-B3AF-70C0-12EB-B6872F6ECA52}"/>
                </a:ext>
              </a:extLst>
            </p:cNvPr>
            <p:cNvSpPr/>
            <p:nvPr/>
          </p:nvSpPr>
          <p:spPr>
            <a:xfrm>
              <a:off x="2870200" y="3962400"/>
              <a:ext cx="736600" cy="685800"/>
            </a:xfrm>
            <a:custGeom>
              <a:avLst/>
              <a:gdLst>
                <a:gd name="connsiteX0" fmla="*/ 736600 w 736600"/>
                <a:gd name="connsiteY0" fmla="*/ 685800 h 685800"/>
                <a:gd name="connsiteX1" fmla="*/ 203200 w 736600"/>
                <a:gd name="connsiteY1" fmla="*/ 571500 h 685800"/>
                <a:gd name="connsiteX2" fmla="*/ 0 w 736600"/>
                <a:gd name="connsiteY2" fmla="*/ 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6600" h="685800">
                  <a:moveTo>
                    <a:pt x="736600" y="685800"/>
                  </a:moveTo>
                  <a:cubicBezTo>
                    <a:pt x="531283" y="685800"/>
                    <a:pt x="325967" y="685800"/>
                    <a:pt x="203200" y="571500"/>
                  </a:cubicBezTo>
                  <a:cubicBezTo>
                    <a:pt x="80433" y="457200"/>
                    <a:pt x="40216" y="228600"/>
                    <a:pt x="0" y="0"/>
                  </a:cubicBez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D1B2398-3745-892B-8935-5158465F8168}"/>
              </a:ext>
            </a:extLst>
          </p:cNvPr>
          <p:cNvSpPr txBox="1"/>
          <p:nvPr/>
        </p:nvSpPr>
        <p:spPr>
          <a:xfrm>
            <a:off x="1285091" y="1815684"/>
            <a:ext cx="958627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...amlodipine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5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m.g.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once daily increased to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10MG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</p:txBody>
      </p:sp>
      <p:sp>
        <p:nvSpPr>
          <p:cNvPr id="33" name="Left Arrow 32">
            <a:extLst>
              <a:ext uri="{FF2B5EF4-FFF2-40B4-BE49-F238E27FC236}">
                <a16:creationId xmlns:a16="http://schemas.microsoft.com/office/drawing/2014/main" id="{5AA18506-37F1-E9C2-F4CD-2C166E043299}"/>
              </a:ext>
            </a:extLst>
          </p:cNvPr>
          <p:cNvSpPr/>
          <p:nvPr/>
        </p:nvSpPr>
        <p:spPr>
          <a:xfrm rot="10800000">
            <a:off x="428622" y="1700086"/>
            <a:ext cx="728662" cy="714502"/>
          </a:xfrm>
          <a:prstGeom prst="leftArrow">
            <a:avLst/>
          </a:prstGeom>
          <a:solidFill>
            <a:schemeClr val="bg1"/>
          </a:solidFill>
          <a:ln>
            <a:solidFill>
              <a:schemeClr val="dk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4" name="Left Arrow 33">
            <a:extLst>
              <a:ext uri="{FF2B5EF4-FFF2-40B4-BE49-F238E27FC236}">
                <a16:creationId xmlns:a16="http://schemas.microsoft.com/office/drawing/2014/main" id="{D17D4C22-1E1A-16CF-88D2-A877AFAC3622}"/>
              </a:ext>
            </a:extLst>
          </p:cNvPr>
          <p:cNvSpPr/>
          <p:nvPr/>
        </p:nvSpPr>
        <p:spPr>
          <a:xfrm rot="10800000">
            <a:off x="10967408" y="1697987"/>
            <a:ext cx="728662" cy="714502"/>
          </a:xfrm>
          <a:prstGeom prst="leftArrow">
            <a:avLst/>
          </a:prstGeom>
          <a:solidFill>
            <a:schemeClr val="bg1"/>
          </a:solidFill>
          <a:ln>
            <a:solidFill>
              <a:schemeClr val="dk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0BEF83-7B37-F439-D59A-781057CA8EC8}"/>
              </a:ext>
            </a:extLst>
          </p:cNvPr>
          <p:cNvSpPr/>
          <p:nvPr/>
        </p:nvSpPr>
        <p:spPr>
          <a:xfrm>
            <a:off x="3857621" y="1808260"/>
            <a:ext cx="1157287" cy="469089"/>
          </a:xfrm>
          <a:prstGeom prst="rect">
            <a:avLst/>
          </a:prstGeom>
          <a:solidFill>
            <a:schemeClr val="accent1">
              <a:alpha val="41356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6FF98B-DB7D-4C9B-E208-B2F3613BC407}"/>
              </a:ext>
            </a:extLst>
          </p:cNvPr>
          <p:cNvSpPr/>
          <p:nvPr/>
        </p:nvSpPr>
        <p:spPr>
          <a:xfrm>
            <a:off x="9568059" y="1802737"/>
            <a:ext cx="795916" cy="469089"/>
          </a:xfrm>
          <a:prstGeom prst="rect">
            <a:avLst/>
          </a:prstGeom>
          <a:solidFill>
            <a:schemeClr val="accent1">
              <a:alpha val="41356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8" name="Bent Arrow 37">
            <a:extLst>
              <a:ext uri="{FF2B5EF4-FFF2-40B4-BE49-F238E27FC236}">
                <a16:creationId xmlns:a16="http://schemas.microsoft.com/office/drawing/2014/main" id="{035FD532-D0E8-F403-A1A2-E512F3C8FF1B}"/>
              </a:ext>
            </a:extLst>
          </p:cNvPr>
          <p:cNvSpPr/>
          <p:nvPr/>
        </p:nvSpPr>
        <p:spPr>
          <a:xfrm>
            <a:off x="9549275" y="2344537"/>
            <a:ext cx="954289" cy="970729"/>
          </a:xfrm>
          <a:prstGeom prst="bentArrow">
            <a:avLst>
              <a:gd name="adj1" fmla="val 25000"/>
              <a:gd name="adj2" fmla="val 20631"/>
              <a:gd name="adj3" fmla="val 25000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DC1DDD-C1F3-732F-ED02-0333C58364EA}"/>
              </a:ext>
            </a:extLst>
          </p:cNvPr>
          <p:cNvSpPr txBox="1"/>
          <p:nvPr/>
        </p:nvSpPr>
        <p:spPr>
          <a:xfrm>
            <a:off x="428622" y="3247268"/>
            <a:ext cx="50030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Rationalist, armchair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Brittle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 bad for simple regular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Hard to scale</a:t>
            </a:r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25EF70A9-31FE-D1B3-C8FC-A557BAA27F6D}"/>
              </a:ext>
            </a:extLst>
          </p:cNvPr>
          <p:cNvSpPr/>
          <p:nvPr/>
        </p:nvSpPr>
        <p:spPr>
          <a:xfrm>
            <a:off x="9557112" y="4710752"/>
            <a:ext cx="428264" cy="70393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9841EC7B-E397-A28E-C69D-DF0ED9F1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Rationalism: 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33684231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34D4-7E58-974D-129D-6095491D4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empiricism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C66E09-1393-A928-55B7-A81A735D6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78" y="994136"/>
            <a:ext cx="9034390" cy="5097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2F84B5-0015-BD07-3F2F-9292815B4C23}"/>
              </a:ext>
            </a:extLst>
          </p:cNvPr>
          <p:cNvSpPr txBox="1"/>
          <p:nvPr/>
        </p:nvSpPr>
        <p:spPr>
          <a:xfrm>
            <a:off x="2025570" y="6354834"/>
            <a:ext cx="4210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effectLst/>
                <a:latin typeface="Calibri" panose="020F0502020204030204" pitchFamily="34" charset="0"/>
              </a:rPr>
              <a:t>Church K., </a:t>
            </a:r>
            <a:r>
              <a:rPr lang="en-GB" dirty="0" err="1">
                <a:effectLst/>
                <a:latin typeface="Calibri" panose="020F0502020204030204" pitchFamily="34" charset="0"/>
              </a:rPr>
              <a:t>LiLT</a:t>
            </a:r>
            <a:r>
              <a:rPr lang="en-GB" dirty="0">
                <a:effectLst/>
                <a:latin typeface="Calibri" panose="020F0502020204030204" pitchFamily="34" charset="0"/>
              </a:rPr>
              <a:t> Volume 2, Issue 4 May 2007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87011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gofwords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2556"/>
          <a:stretch/>
        </p:blipFill>
        <p:spPr>
          <a:xfrm>
            <a:off x="406400" y="622604"/>
            <a:ext cx="2969409" cy="6118287"/>
          </a:xfrm>
          <a:prstGeom prst="rect">
            <a:avLst/>
          </a:prstGeom>
        </p:spPr>
      </p:pic>
      <p:pic>
        <p:nvPicPr>
          <p:cNvPr id="6" name="Picture 5" descr="bagofwords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68" r="-2024"/>
          <a:stretch/>
        </p:blipFill>
        <p:spPr>
          <a:xfrm>
            <a:off x="8607822" y="1070362"/>
            <a:ext cx="2616440" cy="4736017"/>
          </a:xfrm>
          <a:prstGeom prst="rect">
            <a:avLst/>
          </a:prstGeom>
        </p:spPr>
      </p:pic>
      <p:pic>
        <p:nvPicPr>
          <p:cNvPr id="7" name="Picture 6" descr="bagofwords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8" r="27127"/>
          <a:stretch/>
        </p:blipFill>
        <p:spPr>
          <a:xfrm>
            <a:off x="3870297" y="1070848"/>
            <a:ext cx="3830911" cy="47360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DFF6B6-56E6-5A11-1601-965F2B5FB71E}"/>
              </a:ext>
            </a:extLst>
          </p:cNvPr>
          <p:cNvSpPr txBox="1"/>
          <p:nvPr/>
        </p:nvSpPr>
        <p:spPr>
          <a:xfrm>
            <a:off x="429675" y="6334780"/>
            <a:ext cx="4365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(Credit: </a:t>
            </a:r>
            <a:r>
              <a:rPr lang="en-US" dirty="0" err="1"/>
              <a:t>Jurafsky</a:t>
            </a:r>
            <a:r>
              <a:rPr lang="en-US" dirty="0"/>
              <a:t> and Martin, draft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</a:p>
          <a:p>
            <a:r>
              <a:rPr lang="en-US" dirty="0"/>
              <a:t>https://</a:t>
            </a:r>
            <a:r>
              <a:rPr lang="en-US" dirty="0" err="1"/>
              <a:t>web.stanford.edu</a:t>
            </a:r>
            <a:r>
              <a:rPr lang="en-US" dirty="0"/>
              <a:t>/~</a:t>
            </a:r>
            <a:r>
              <a:rPr lang="en-US" dirty="0" err="1"/>
              <a:t>jurafsky</a:t>
            </a:r>
            <a:r>
              <a:rPr lang="en-US" dirty="0"/>
              <a:t>/slp3/)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7FF205E-5C72-51D8-B7B0-0833D0DE3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documents: Bag of Words </a:t>
            </a:r>
          </a:p>
        </p:txBody>
      </p:sp>
    </p:spTree>
    <p:extLst>
      <p:ext uri="{BB962C8B-B14F-4D97-AF65-F5344CB8AC3E}">
        <p14:creationId xmlns:p14="http://schemas.microsoft.com/office/powerpoint/2010/main" val="41305959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Line 4"/>
          <p:cNvSpPr/>
          <p:nvPr/>
        </p:nvSpPr>
        <p:spPr>
          <a:xfrm>
            <a:off x="7860000" y="3744000"/>
            <a:ext cx="2304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0" name="Line 5"/>
          <p:cNvSpPr/>
          <p:nvPr/>
        </p:nvSpPr>
        <p:spPr>
          <a:xfrm flipV="1">
            <a:off x="7860000" y="1442880"/>
            <a:ext cx="0" cy="230112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1" name="Line 6"/>
          <p:cNvSpPr/>
          <p:nvPr/>
        </p:nvSpPr>
        <p:spPr>
          <a:xfrm flipH="1">
            <a:off x="6132000" y="3744000"/>
            <a:ext cx="1728000" cy="1728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2" name="CustomShape 7"/>
          <p:cNvSpPr/>
          <p:nvPr/>
        </p:nvSpPr>
        <p:spPr>
          <a:xfrm>
            <a:off x="6349080" y="493308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5" name="Line 10"/>
          <p:cNvSpPr/>
          <p:nvPr/>
        </p:nvSpPr>
        <p:spPr>
          <a:xfrm>
            <a:off x="7320000" y="4320000"/>
            <a:ext cx="1080000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6" name="Line 11"/>
          <p:cNvSpPr/>
          <p:nvPr/>
        </p:nvSpPr>
        <p:spPr>
          <a:xfrm flipV="1">
            <a:off x="8616000" y="3744000"/>
            <a:ext cx="468000" cy="50400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7" name="CustomShape 12"/>
          <p:cNvSpPr/>
          <p:nvPr/>
        </p:nvSpPr>
        <p:spPr>
          <a:xfrm>
            <a:off x="8328000" y="417600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8" name="CustomShape 13"/>
          <p:cNvSpPr/>
          <p:nvPr/>
        </p:nvSpPr>
        <p:spPr>
          <a:xfrm>
            <a:off x="7104720" y="414072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50" name="TextShape 15"/>
          <p:cNvSpPr txBox="1"/>
          <p:nvPr/>
        </p:nvSpPr>
        <p:spPr>
          <a:xfrm>
            <a:off x="7068000" y="1332000"/>
            <a:ext cx="8146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loved</a:t>
            </a:r>
            <a:endParaRPr lang="en-GB" sz="1400" spc="-1" dirty="0">
              <a:latin typeface="Arial"/>
            </a:endParaRPr>
          </a:p>
        </p:txBody>
      </p:sp>
      <p:sp>
        <p:nvSpPr>
          <p:cNvPr id="751" name="TextShape 16"/>
          <p:cNvSpPr txBox="1"/>
          <p:nvPr/>
        </p:nvSpPr>
        <p:spPr>
          <a:xfrm>
            <a:off x="9732360" y="3744000"/>
            <a:ext cx="9532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amazing</a:t>
            </a:r>
            <a:endParaRPr lang="en-GB" sz="1400" spc="-1" dirty="0">
              <a:latin typeface="Arial"/>
            </a:endParaRPr>
          </a:p>
        </p:txBody>
      </p:sp>
      <p:sp>
        <p:nvSpPr>
          <p:cNvPr id="752" name="TextShape 17"/>
          <p:cNvSpPr txBox="1"/>
          <p:nvPr/>
        </p:nvSpPr>
        <p:spPr>
          <a:xfrm>
            <a:off x="5394360" y="5292000"/>
            <a:ext cx="81612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hated</a:t>
            </a:r>
            <a:endParaRPr lang="en-GB" sz="1400" spc="-1" dirty="0">
              <a:latin typeface="Arial"/>
            </a:endParaRPr>
          </a:p>
        </p:txBody>
      </p:sp>
      <p:sp>
        <p:nvSpPr>
          <p:cNvPr id="757" name="TextShape 22"/>
          <p:cNvSpPr txBox="1"/>
          <p:nvPr/>
        </p:nvSpPr>
        <p:spPr>
          <a:xfrm>
            <a:off x="8696640" y="4284000"/>
            <a:ext cx="136176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amazing how much I hated this</a:t>
            </a:r>
          </a:p>
        </p:txBody>
      </p:sp>
      <p:sp>
        <p:nvSpPr>
          <p:cNvPr id="758" name="TextShape 23"/>
          <p:cNvSpPr txBox="1"/>
          <p:nvPr/>
        </p:nvSpPr>
        <p:spPr>
          <a:xfrm>
            <a:off x="7111402" y="447768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this movie</a:t>
            </a:r>
          </a:p>
        </p:txBody>
      </p:sp>
      <p:sp>
        <p:nvSpPr>
          <p:cNvPr id="759" name="TextShape 24"/>
          <p:cNvSpPr txBox="1"/>
          <p:nvPr/>
        </p:nvSpPr>
        <p:spPr>
          <a:xfrm>
            <a:off x="9265296" y="2348460"/>
            <a:ext cx="1159474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this amazing movie</a:t>
            </a:r>
          </a:p>
        </p:txBody>
      </p:sp>
      <p:sp>
        <p:nvSpPr>
          <p:cNvPr id="760" name="TextShape 25"/>
          <p:cNvSpPr txBox="1"/>
          <p:nvPr/>
        </p:nvSpPr>
        <p:spPr>
          <a:xfrm>
            <a:off x="6348000" y="5234400"/>
            <a:ext cx="1314720" cy="68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the cast, hated the plot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685AF-2291-C343-C3D2-56FD4508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words as a vector space</a:t>
            </a:r>
          </a:p>
        </p:txBody>
      </p:sp>
      <p:sp>
        <p:nvSpPr>
          <p:cNvPr id="4" name="CustomShape 12">
            <a:extLst>
              <a:ext uri="{FF2B5EF4-FFF2-40B4-BE49-F238E27FC236}">
                <a16:creationId xmlns:a16="http://schemas.microsoft.com/office/drawing/2014/main" id="{1103CED4-4841-356B-CDCF-D5407AEB52B2}"/>
              </a:ext>
            </a:extLst>
          </p:cNvPr>
          <p:cNvSpPr/>
          <p:nvPr/>
        </p:nvSpPr>
        <p:spPr>
          <a:xfrm>
            <a:off x="8896525" y="2402974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E096D6F1-0FA1-DE1A-9112-E2E9DB10A35E}"/>
              </a:ext>
            </a:extLst>
          </p:cNvPr>
          <p:cNvSpPr/>
          <p:nvPr/>
        </p:nvSpPr>
        <p:spPr>
          <a:xfrm flipH="1" flipV="1">
            <a:off x="7872046" y="2575385"/>
            <a:ext cx="971013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EB410880-BECC-2634-121A-3832A35850FC}"/>
              </a:ext>
            </a:extLst>
          </p:cNvPr>
          <p:cNvSpPr/>
          <p:nvPr/>
        </p:nvSpPr>
        <p:spPr>
          <a:xfrm flipV="1">
            <a:off x="9084000" y="2762974"/>
            <a:ext cx="0" cy="90072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TextShape 24">
            <a:extLst>
              <a:ext uri="{FF2B5EF4-FFF2-40B4-BE49-F238E27FC236}">
                <a16:creationId xmlns:a16="http://schemas.microsoft.com/office/drawing/2014/main" id="{2FB01EA0-DDA7-19C6-4BF9-21FA8EC512CC}"/>
              </a:ext>
            </a:extLst>
          </p:cNvPr>
          <p:cNvSpPr txBox="1"/>
          <p:nvPr/>
        </p:nvSpPr>
        <p:spPr>
          <a:xfrm>
            <a:off x="7854900" y="2242110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8" name="TextShape 24">
            <a:extLst>
              <a:ext uri="{FF2B5EF4-FFF2-40B4-BE49-F238E27FC236}">
                <a16:creationId xmlns:a16="http://schemas.microsoft.com/office/drawing/2014/main" id="{8A5C7048-220D-05EA-06FC-9C0B3AB7E0A3}"/>
              </a:ext>
            </a:extLst>
          </p:cNvPr>
          <p:cNvSpPr txBox="1"/>
          <p:nvPr/>
        </p:nvSpPr>
        <p:spPr>
          <a:xfrm>
            <a:off x="7441400" y="4002791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9" name="TextShape 24">
            <a:extLst>
              <a:ext uri="{FF2B5EF4-FFF2-40B4-BE49-F238E27FC236}">
                <a16:creationId xmlns:a16="http://schemas.microsoft.com/office/drawing/2014/main" id="{CDEC86B6-5216-6F63-E654-002CDD775C5E}"/>
              </a:ext>
            </a:extLst>
          </p:cNvPr>
          <p:cNvSpPr txBox="1"/>
          <p:nvPr/>
        </p:nvSpPr>
        <p:spPr>
          <a:xfrm>
            <a:off x="9116290" y="3512404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749" name="CustomShape 14"/>
          <p:cNvSpPr/>
          <p:nvPr/>
        </p:nvSpPr>
        <p:spPr>
          <a:xfrm>
            <a:off x="7681297" y="245772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Shape 23">
            <a:extLst>
              <a:ext uri="{FF2B5EF4-FFF2-40B4-BE49-F238E27FC236}">
                <a16:creationId xmlns:a16="http://schemas.microsoft.com/office/drawing/2014/main" id="{1FE8B79E-55ED-F198-08A1-E73774798E2F}"/>
              </a:ext>
            </a:extLst>
          </p:cNvPr>
          <p:cNvSpPr txBox="1"/>
          <p:nvPr/>
        </p:nvSpPr>
        <p:spPr>
          <a:xfrm>
            <a:off x="6908017" y="253317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it!</a:t>
            </a:r>
          </a:p>
        </p:txBody>
      </p:sp>
      <p:sp>
        <p:nvSpPr>
          <p:cNvPr id="35" name="TextShape 2">
            <a:extLst>
              <a:ext uri="{FF2B5EF4-FFF2-40B4-BE49-F238E27FC236}">
                <a16:creationId xmlns:a16="http://schemas.microsoft.com/office/drawing/2014/main" id="{E247F901-A172-A717-1249-A9DD9A51DAE3}"/>
              </a:ext>
            </a:extLst>
          </p:cNvPr>
          <p:cNvSpPr txBox="1"/>
          <p:nvPr/>
        </p:nvSpPr>
        <p:spPr>
          <a:xfrm>
            <a:off x="394047" y="1783290"/>
            <a:ext cx="4337928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Here we have three dimensions in our model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Typically, we would have hundreds or thousands of dimensions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Shape 2"/>
          <p:cNvSpPr txBox="1"/>
          <p:nvPr/>
        </p:nvSpPr>
        <p:spPr>
          <a:xfrm>
            <a:off x="394047" y="1783290"/>
            <a:ext cx="4337928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We can create a plane in the ”feature space” to separate out different classes of our examples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9" name="Line 4"/>
          <p:cNvSpPr/>
          <p:nvPr/>
        </p:nvSpPr>
        <p:spPr>
          <a:xfrm>
            <a:off x="7860000" y="3744000"/>
            <a:ext cx="2304000" cy="0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0" name="Line 5"/>
          <p:cNvSpPr/>
          <p:nvPr/>
        </p:nvSpPr>
        <p:spPr>
          <a:xfrm flipV="1">
            <a:off x="7859999" y="1558050"/>
            <a:ext cx="8747" cy="2185949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1" name="Line 6"/>
          <p:cNvSpPr/>
          <p:nvPr/>
        </p:nvSpPr>
        <p:spPr>
          <a:xfrm flipH="1">
            <a:off x="6118066" y="3744000"/>
            <a:ext cx="1741934" cy="1712761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2" name="CustomShape 7"/>
          <p:cNvSpPr/>
          <p:nvPr/>
        </p:nvSpPr>
        <p:spPr>
          <a:xfrm>
            <a:off x="6349080" y="493308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5" name="Line 10"/>
          <p:cNvSpPr/>
          <p:nvPr/>
        </p:nvSpPr>
        <p:spPr>
          <a:xfrm>
            <a:off x="7320000" y="4320000"/>
            <a:ext cx="1080000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6" name="Line 11"/>
          <p:cNvSpPr/>
          <p:nvPr/>
        </p:nvSpPr>
        <p:spPr>
          <a:xfrm flipV="1">
            <a:off x="8616000" y="3744000"/>
            <a:ext cx="468000" cy="50400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7" name="CustomShape 12"/>
          <p:cNvSpPr/>
          <p:nvPr/>
        </p:nvSpPr>
        <p:spPr>
          <a:xfrm>
            <a:off x="8328000" y="417600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748" name="CustomShape 13"/>
          <p:cNvSpPr/>
          <p:nvPr/>
        </p:nvSpPr>
        <p:spPr>
          <a:xfrm>
            <a:off x="7104720" y="414072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750" name="TextShape 15"/>
          <p:cNvSpPr txBox="1"/>
          <p:nvPr/>
        </p:nvSpPr>
        <p:spPr>
          <a:xfrm>
            <a:off x="7068000" y="1332000"/>
            <a:ext cx="8146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loved</a:t>
            </a:r>
            <a:endParaRPr lang="en-GB" sz="1400" spc="-1" dirty="0">
              <a:latin typeface="Arial"/>
            </a:endParaRPr>
          </a:p>
        </p:txBody>
      </p:sp>
      <p:sp>
        <p:nvSpPr>
          <p:cNvPr id="751" name="TextShape 16"/>
          <p:cNvSpPr txBox="1"/>
          <p:nvPr/>
        </p:nvSpPr>
        <p:spPr>
          <a:xfrm>
            <a:off x="9732360" y="3744000"/>
            <a:ext cx="9532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amazing</a:t>
            </a:r>
            <a:endParaRPr lang="en-GB" sz="1400" spc="-1" dirty="0">
              <a:latin typeface="Arial"/>
            </a:endParaRPr>
          </a:p>
        </p:txBody>
      </p:sp>
      <p:sp>
        <p:nvSpPr>
          <p:cNvPr id="752" name="TextShape 17"/>
          <p:cNvSpPr txBox="1"/>
          <p:nvPr/>
        </p:nvSpPr>
        <p:spPr>
          <a:xfrm>
            <a:off x="5394360" y="5292000"/>
            <a:ext cx="81612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hated</a:t>
            </a:r>
            <a:endParaRPr lang="en-GB" sz="1400" spc="-1" dirty="0">
              <a:latin typeface="Arial"/>
            </a:endParaRPr>
          </a:p>
        </p:txBody>
      </p:sp>
      <p:sp>
        <p:nvSpPr>
          <p:cNvPr id="757" name="TextShape 22"/>
          <p:cNvSpPr txBox="1"/>
          <p:nvPr/>
        </p:nvSpPr>
        <p:spPr>
          <a:xfrm>
            <a:off x="8696640" y="4284000"/>
            <a:ext cx="136176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amazing how much I hated this</a:t>
            </a:r>
          </a:p>
        </p:txBody>
      </p:sp>
      <p:sp>
        <p:nvSpPr>
          <p:cNvPr id="758" name="TextShape 23"/>
          <p:cNvSpPr txBox="1"/>
          <p:nvPr/>
        </p:nvSpPr>
        <p:spPr>
          <a:xfrm>
            <a:off x="7111402" y="447768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this movie</a:t>
            </a:r>
          </a:p>
        </p:txBody>
      </p:sp>
      <p:sp>
        <p:nvSpPr>
          <p:cNvPr id="759" name="TextShape 24"/>
          <p:cNvSpPr txBox="1"/>
          <p:nvPr/>
        </p:nvSpPr>
        <p:spPr>
          <a:xfrm>
            <a:off x="9265296" y="2348460"/>
            <a:ext cx="1159474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this amazing movie</a:t>
            </a:r>
          </a:p>
        </p:txBody>
      </p:sp>
      <p:sp>
        <p:nvSpPr>
          <p:cNvPr id="760" name="TextShape 25"/>
          <p:cNvSpPr txBox="1"/>
          <p:nvPr/>
        </p:nvSpPr>
        <p:spPr>
          <a:xfrm>
            <a:off x="6348000" y="5234400"/>
            <a:ext cx="1314720" cy="68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the cast, hated the plot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685AF-2291-C343-C3D2-56FD4508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words</a:t>
            </a:r>
          </a:p>
        </p:txBody>
      </p:sp>
      <p:sp>
        <p:nvSpPr>
          <p:cNvPr id="4" name="CustomShape 12">
            <a:extLst>
              <a:ext uri="{FF2B5EF4-FFF2-40B4-BE49-F238E27FC236}">
                <a16:creationId xmlns:a16="http://schemas.microsoft.com/office/drawing/2014/main" id="{1103CED4-4841-356B-CDCF-D5407AEB52B2}"/>
              </a:ext>
            </a:extLst>
          </p:cNvPr>
          <p:cNvSpPr/>
          <p:nvPr/>
        </p:nvSpPr>
        <p:spPr>
          <a:xfrm>
            <a:off x="8896525" y="2402974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EB410880-BECC-2634-121A-3832A35850FC}"/>
              </a:ext>
            </a:extLst>
          </p:cNvPr>
          <p:cNvSpPr/>
          <p:nvPr/>
        </p:nvSpPr>
        <p:spPr>
          <a:xfrm flipV="1">
            <a:off x="9084000" y="2762974"/>
            <a:ext cx="0" cy="90072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TextShape 24">
            <a:extLst>
              <a:ext uri="{FF2B5EF4-FFF2-40B4-BE49-F238E27FC236}">
                <a16:creationId xmlns:a16="http://schemas.microsoft.com/office/drawing/2014/main" id="{2FB01EA0-DDA7-19C6-4BF9-21FA8EC512CC}"/>
              </a:ext>
            </a:extLst>
          </p:cNvPr>
          <p:cNvSpPr txBox="1"/>
          <p:nvPr/>
        </p:nvSpPr>
        <p:spPr>
          <a:xfrm>
            <a:off x="7854900" y="2242110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8" name="TextShape 24">
            <a:extLst>
              <a:ext uri="{FF2B5EF4-FFF2-40B4-BE49-F238E27FC236}">
                <a16:creationId xmlns:a16="http://schemas.microsoft.com/office/drawing/2014/main" id="{8A5C7048-220D-05EA-06FC-9C0B3AB7E0A3}"/>
              </a:ext>
            </a:extLst>
          </p:cNvPr>
          <p:cNvSpPr txBox="1"/>
          <p:nvPr/>
        </p:nvSpPr>
        <p:spPr>
          <a:xfrm>
            <a:off x="7441400" y="4002791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9" name="TextShape 24">
            <a:extLst>
              <a:ext uri="{FF2B5EF4-FFF2-40B4-BE49-F238E27FC236}">
                <a16:creationId xmlns:a16="http://schemas.microsoft.com/office/drawing/2014/main" id="{CDEC86B6-5216-6F63-E654-002CDD775C5E}"/>
              </a:ext>
            </a:extLst>
          </p:cNvPr>
          <p:cNvSpPr txBox="1"/>
          <p:nvPr/>
        </p:nvSpPr>
        <p:spPr>
          <a:xfrm>
            <a:off x="9116290" y="3512404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10" name="TextShape 23">
            <a:extLst>
              <a:ext uri="{FF2B5EF4-FFF2-40B4-BE49-F238E27FC236}">
                <a16:creationId xmlns:a16="http://schemas.microsoft.com/office/drawing/2014/main" id="{1FE8B79E-55ED-F198-08A1-E73774798E2F}"/>
              </a:ext>
            </a:extLst>
          </p:cNvPr>
          <p:cNvSpPr txBox="1"/>
          <p:nvPr/>
        </p:nvSpPr>
        <p:spPr>
          <a:xfrm>
            <a:off x="6908017" y="253317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it!</a:t>
            </a:r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31BEB694-6175-5640-FF21-6F6AABB3518F}"/>
              </a:ext>
            </a:extLst>
          </p:cNvPr>
          <p:cNvSpPr/>
          <p:nvPr/>
        </p:nvSpPr>
        <p:spPr>
          <a:xfrm flipH="1">
            <a:off x="6093934" y="1564919"/>
            <a:ext cx="1766038" cy="1675037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224019EC-586B-1E99-A034-224F518AF74D}"/>
              </a:ext>
            </a:extLst>
          </p:cNvPr>
          <p:cNvSpPr/>
          <p:nvPr/>
        </p:nvSpPr>
        <p:spPr>
          <a:xfrm flipV="1">
            <a:off x="7868745" y="1543421"/>
            <a:ext cx="2268671" cy="14628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1E6D1E62-0390-DC27-647B-AD2FD0F4A7B6}"/>
              </a:ext>
            </a:extLst>
          </p:cNvPr>
          <p:cNvSpPr/>
          <p:nvPr/>
        </p:nvSpPr>
        <p:spPr>
          <a:xfrm flipH="1">
            <a:off x="8432287" y="3740835"/>
            <a:ext cx="1724623" cy="1715926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734FC62D-3318-9F72-4265-0136235FDA91}"/>
              </a:ext>
            </a:extLst>
          </p:cNvPr>
          <p:cNvSpPr/>
          <p:nvPr/>
        </p:nvSpPr>
        <p:spPr>
          <a:xfrm flipH="1">
            <a:off x="8392524" y="1543421"/>
            <a:ext cx="1744893" cy="1696537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" name="Line 5">
            <a:extLst>
              <a:ext uri="{FF2B5EF4-FFF2-40B4-BE49-F238E27FC236}">
                <a16:creationId xmlns:a16="http://schemas.microsoft.com/office/drawing/2014/main" id="{5EFD8680-9FCF-54DC-BB53-EFA1CDAE1D96}"/>
              </a:ext>
            </a:extLst>
          </p:cNvPr>
          <p:cNvSpPr/>
          <p:nvPr/>
        </p:nvSpPr>
        <p:spPr>
          <a:xfrm flipH="1" flipV="1">
            <a:off x="10137420" y="1544248"/>
            <a:ext cx="29566" cy="2197414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" name="Line 4">
            <a:extLst>
              <a:ext uri="{FF2B5EF4-FFF2-40B4-BE49-F238E27FC236}">
                <a16:creationId xmlns:a16="http://schemas.microsoft.com/office/drawing/2014/main" id="{4F6E8361-3726-6096-757E-39A9A80132A5}"/>
              </a:ext>
            </a:extLst>
          </p:cNvPr>
          <p:cNvSpPr/>
          <p:nvPr/>
        </p:nvSpPr>
        <p:spPr>
          <a:xfrm>
            <a:off x="6096000" y="3232850"/>
            <a:ext cx="2304000" cy="0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" name="Line 4">
            <a:extLst>
              <a:ext uri="{FF2B5EF4-FFF2-40B4-BE49-F238E27FC236}">
                <a16:creationId xmlns:a16="http://schemas.microsoft.com/office/drawing/2014/main" id="{4305790B-2085-E23A-E5F6-269196F4C79B}"/>
              </a:ext>
            </a:extLst>
          </p:cNvPr>
          <p:cNvSpPr/>
          <p:nvPr/>
        </p:nvSpPr>
        <p:spPr>
          <a:xfrm>
            <a:off x="6093934" y="5468516"/>
            <a:ext cx="2341507" cy="0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" name="Line 5">
            <a:extLst>
              <a:ext uri="{FF2B5EF4-FFF2-40B4-BE49-F238E27FC236}">
                <a16:creationId xmlns:a16="http://schemas.microsoft.com/office/drawing/2014/main" id="{16969A89-E8D2-DD52-4429-001DC3F7C125}"/>
              </a:ext>
            </a:extLst>
          </p:cNvPr>
          <p:cNvSpPr/>
          <p:nvPr/>
        </p:nvSpPr>
        <p:spPr>
          <a:xfrm flipH="1" flipV="1">
            <a:off x="6095592" y="3239958"/>
            <a:ext cx="22474" cy="2228558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" name="Line 5">
            <a:extLst>
              <a:ext uri="{FF2B5EF4-FFF2-40B4-BE49-F238E27FC236}">
                <a16:creationId xmlns:a16="http://schemas.microsoft.com/office/drawing/2014/main" id="{1A50676E-4926-26DA-A3E8-30B26102517D}"/>
              </a:ext>
            </a:extLst>
          </p:cNvPr>
          <p:cNvSpPr/>
          <p:nvPr/>
        </p:nvSpPr>
        <p:spPr>
          <a:xfrm flipH="1" flipV="1">
            <a:off x="8406680" y="3232850"/>
            <a:ext cx="25608" cy="2235666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Line 8">
            <a:extLst>
              <a:ext uri="{FF2B5EF4-FFF2-40B4-BE49-F238E27FC236}">
                <a16:creationId xmlns:a16="http://schemas.microsoft.com/office/drawing/2014/main" id="{1C61218C-2ADA-C20C-B341-28ED5238D4DC}"/>
              </a:ext>
            </a:extLst>
          </p:cNvPr>
          <p:cNvSpPr/>
          <p:nvPr/>
        </p:nvSpPr>
        <p:spPr>
          <a:xfrm flipH="1" flipV="1">
            <a:off x="7872046" y="2575385"/>
            <a:ext cx="971013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9" name="CustomShape 14"/>
          <p:cNvSpPr/>
          <p:nvPr/>
        </p:nvSpPr>
        <p:spPr>
          <a:xfrm>
            <a:off x="7681297" y="245772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E6E05C6-B62C-DE49-D0F9-D9B92072C462}"/>
              </a:ext>
            </a:extLst>
          </p:cNvPr>
          <p:cNvSpPr/>
          <p:nvPr/>
        </p:nvSpPr>
        <p:spPr>
          <a:xfrm>
            <a:off x="7486650" y="1914525"/>
            <a:ext cx="2357438" cy="2143125"/>
          </a:xfrm>
          <a:custGeom>
            <a:avLst/>
            <a:gdLst>
              <a:gd name="connsiteX0" fmla="*/ 0 w 2357438"/>
              <a:gd name="connsiteY0" fmla="*/ 28575 h 2143125"/>
              <a:gd name="connsiteX1" fmla="*/ 85725 w 2357438"/>
              <a:gd name="connsiteY1" fmla="*/ 2100263 h 2143125"/>
              <a:gd name="connsiteX2" fmla="*/ 2357438 w 2357438"/>
              <a:gd name="connsiteY2" fmla="*/ 2143125 h 2143125"/>
              <a:gd name="connsiteX3" fmla="*/ 2328863 w 2357438"/>
              <a:gd name="connsiteY3" fmla="*/ 0 h 2143125"/>
              <a:gd name="connsiteX4" fmla="*/ 0 w 2357438"/>
              <a:gd name="connsiteY4" fmla="*/ 28575 h 214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7438" h="2143125">
                <a:moveTo>
                  <a:pt x="0" y="28575"/>
                </a:moveTo>
                <a:lnTo>
                  <a:pt x="85725" y="2100263"/>
                </a:lnTo>
                <a:lnTo>
                  <a:pt x="2357438" y="2143125"/>
                </a:lnTo>
                <a:lnTo>
                  <a:pt x="2328863" y="0"/>
                </a:lnTo>
                <a:lnTo>
                  <a:pt x="0" y="28575"/>
                </a:lnTo>
                <a:close/>
              </a:path>
            </a:pathLst>
          </a:custGeom>
          <a:solidFill>
            <a:schemeClr val="accent1">
              <a:alpha val="17115"/>
            </a:schemeClr>
          </a:solidFill>
          <a:ln w="12700"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11" name="TextShape 24">
            <a:extLst>
              <a:ext uri="{FF2B5EF4-FFF2-40B4-BE49-F238E27FC236}">
                <a16:creationId xmlns:a16="http://schemas.microsoft.com/office/drawing/2014/main" id="{9CCF950D-5FD3-A177-C7A5-C67234E91B35}"/>
              </a:ext>
            </a:extLst>
          </p:cNvPr>
          <p:cNvSpPr txBox="1"/>
          <p:nvPr/>
        </p:nvSpPr>
        <p:spPr>
          <a:xfrm>
            <a:off x="6714571" y="4741342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5219738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EF89-72F1-B33A-471B-7308B4DF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Shape 2">
            <a:extLst>
              <a:ext uri="{FF2B5EF4-FFF2-40B4-BE49-F238E27FC236}">
                <a16:creationId xmlns:a16="http://schemas.microsoft.com/office/drawing/2014/main" id="{C56E0EB3-598C-5386-B192-C09CED20CB20}"/>
              </a:ext>
            </a:extLst>
          </p:cNvPr>
          <p:cNvSpPr txBox="1"/>
          <p:nvPr/>
        </p:nvSpPr>
        <p:spPr>
          <a:xfrm>
            <a:off x="394047" y="1783290"/>
            <a:ext cx="4337928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What about word order?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What about negation?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All words have the same influence, regardless of their salience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More sophisticated representations are available!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35A4D-9C64-5680-9FB0-83AD91CC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words</a:t>
            </a:r>
          </a:p>
        </p:txBody>
      </p:sp>
      <p:sp>
        <p:nvSpPr>
          <p:cNvPr id="15" name="Line 4">
            <a:extLst>
              <a:ext uri="{FF2B5EF4-FFF2-40B4-BE49-F238E27FC236}">
                <a16:creationId xmlns:a16="http://schemas.microsoft.com/office/drawing/2014/main" id="{18EDDCC6-FB83-DB07-A9F8-13838935ECE0}"/>
              </a:ext>
            </a:extLst>
          </p:cNvPr>
          <p:cNvSpPr/>
          <p:nvPr/>
        </p:nvSpPr>
        <p:spPr>
          <a:xfrm>
            <a:off x="7860000" y="3744000"/>
            <a:ext cx="2304000" cy="0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Line 5">
            <a:extLst>
              <a:ext uri="{FF2B5EF4-FFF2-40B4-BE49-F238E27FC236}">
                <a16:creationId xmlns:a16="http://schemas.microsoft.com/office/drawing/2014/main" id="{E09136A2-A8FA-A1F2-4040-8B57725CB484}"/>
              </a:ext>
            </a:extLst>
          </p:cNvPr>
          <p:cNvSpPr/>
          <p:nvPr/>
        </p:nvSpPr>
        <p:spPr>
          <a:xfrm flipV="1">
            <a:off x="7859999" y="1558050"/>
            <a:ext cx="8747" cy="2185949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" name="Line 6">
            <a:extLst>
              <a:ext uri="{FF2B5EF4-FFF2-40B4-BE49-F238E27FC236}">
                <a16:creationId xmlns:a16="http://schemas.microsoft.com/office/drawing/2014/main" id="{20E286D3-ED93-812C-3499-2940291D5196}"/>
              </a:ext>
            </a:extLst>
          </p:cNvPr>
          <p:cNvSpPr/>
          <p:nvPr/>
        </p:nvSpPr>
        <p:spPr>
          <a:xfrm flipH="1">
            <a:off x="6118066" y="3744000"/>
            <a:ext cx="1741934" cy="1712761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" name="CustomShape 7">
            <a:extLst>
              <a:ext uri="{FF2B5EF4-FFF2-40B4-BE49-F238E27FC236}">
                <a16:creationId xmlns:a16="http://schemas.microsoft.com/office/drawing/2014/main" id="{731F27B8-1887-30A1-F81A-0F076B5C1CE2}"/>
              </a:ext>
            </a:extLst>
          </p:cNvPr>
          <p:cNvSpPr/>
          <p:nvPr/>
        </p:nvSpPr>
        <p:spPr>
          <a:xfrm>
            <a:off x="6349080" y="493308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Line 10">
            <a:extLst>
              <a:ext uri="{FF2B5EF4-FFF2-40B4-BE49-F238E27FC236}">
                <a16:creationId xmlns:a16="http://schemas.microsoft.com/office/drawing/2014/main" id="{AEEFBE68-8D81-299A-431C-AA17B03F3516}"/>
              </a:ext>
            </a:extLst>
          </p:cNvPr>
          <p:cNvSpPr/>
          <p:nvPr/>
        </p:nvSpPr>
        <p:spPr>
          <a:xfrm>
            <a:off x="7320000" y="4320000"/>
            <a:ext cx="1080000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C4FCB609-204A-E93A-3A7C-A0F66B1B21EA}"/>
              </a:ext>
            </a:extLst>
          </p:cNvPr>
          <p:cNvSpPr/>
          <p:nvPr/>
        </p:nvSpPr>
        <p:spPr>
          <a:xfrm flipV="1">
            <a:off x="8616000" y="3744000"/>
            <a:ext cx="468000" cy="50400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" name="CustomShape 12">
            <a:extLst>
              <a:ext uri="{FF2B5EF4-FFF2-40B4-BE49-F238E27FC236}">
                <a16:creationId xmlns:a16="http://schemas.microsoft.com/office/drawing/2014/main" id="{00F89F45-0823-1D79-AD81-026DDF78B0A5}"/>
              </a:ext>
            </a:extLst>
          </p:cNvPr>
          <p:cNvSpPr/>
          <p:nvPr/>
        </p:nvSpPr>
        <p:spPr>
          <a:xfrm>
            <a:off x="8328000" y="417600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24" name="CustomShape 13">
            <a:extLst>
              <a:ext uri="{FF2B5EF4-FFF2-40B4-BE49-F238E27FC236}">
                <a16:creationId xmlns:a16="http://schemas.microsoft.com/office/drawing/2014/main" id="{09EE21B7-367B-C800-8D46-4063EF73BF05}"/>
              </a:ext>
            </a:extLst>
          </p:cNvPr>
          <p:cNvSpPr/>
          <p:nvPr/>
        </p:nvSpPr>
        <p:spPr>
          <a:xfrm>
            <a:off x="7104720" y="414072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25" name="TextShape 15">
            <a:extLst>
              <a:ext uri="{FF2B5EF4-FFF2-40B4-BE49-F238E27FC236}">
                <a16:creationId xmlns:a16="http://schemas.microsoft.com/office/drawing/2014/main" id="{A3C58434-8C9F-F57D-04F7-EB5FBC4C30E6}"/>
              </a:ext>
            </a:extLst>
          </p:cNvPr>
          <p:cNvSpPr txBox="1"/>
          <p:nvPr/>
        </p:nvSpPr>
        <p:spPr>
          <a:xfrm>
            <a:off x="7068000" y="1332000"/>
            <a:ext cx="8146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loved</a:t>
            </a:r>
            <a:endParaRPr lang="en-GB" sz="1400" spc="-1" dirty="0">
              <a:latin typeface="Arial"/>
            </a:endParaRPr>
          </a:p>
        </p:txBody>
      </p:sp>
      <p:sp>
        <p:nvSpPr>
          <p:cNvPr id="26" name="TextShape 16">
            <a:extLst>
              <a:ext uri="{FF2B5EF4-FFF2-40B4-BE49-F238E27FC236}">
                <a16:creationId xmlns:a16="http://schemas.microsoft.com/office/drawing/2014/main" id="{A9ED0E32-DEC6-91DF-5B10-B99D92CF0A9E}"/>
              </a:ext>
            </a:extLst>
          </p:cNvPr>
          <p:cNvSpPr txBox="1"/>
          <p:nvPr/>
        </p:nvSpPr>
        <p:spPr>
          <a:xfrm>
            <a:off x="9732360" y="3744000"/>
            <a:ext cx="9532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amazing</a:t>
            </a:r>
            <a:endParaRPr lang="en-GB" sz="1400" spc="-1" dirty="0">
              <a:latin typeface="Arial"/>
            </a:endParaRPr>
          </a:p>
        </p:txBody>
      </p:sp>
      <p:sp>
        <p:nvSpPr>
          <p:cNvPr id="32" name="TextShape 17">
            <a:extLst>
              <a:ext uri="{FF2B5EF4-FFF2-40B4-BE49-F238E27FC236}">
                <a16:creationId xmlns:a16="http://schemas.microsoft.com/office/drawing/2014/main" id="{47778ACA-2554-C418-55C1-C2848AB577F5}"/>
              </a:ext>
            </a:extLst>
          </p:cNvPr>
          <p:cNvSpPr txBox="1"/>
          <p:nvPr/>
        </p:nvSpPr>
        <p:spPr>
          <a:xfrm>
            <a:off x="5394360" y="5292000"/>
            <a:ext cx="81612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hated</a:t>
            </a:r>
            <a:endParaRPr lang="en-GB" sz="1400" spc="-1" dirty="0">
              <a:latin typeface="Arial"/>
            </a:endParaRPr>
          </a:p>
        </p:txBody>
      </p:sp>
      <p:sp>
        <p:nvSpPr>
          <p:cNvPr id="33" name="TextShape 22">
            <a:extLst>
              <a:ext uri="{FF2B5EF4-FFF2-40B4-BE49-F238E27FC236}">
                <a16:creationId xmlns:a16="http://schemas.microsoft.com/office/drawing/2014/main" id="{E6D08841-8C32-2608-9E6A-2251D453C146}"/>
              </a:ext>
            </a:extLst>
          </p:cNvPr>
          <p:cNvSpPr txBox="1"/>
          <p:nvPr/>
        </p:nvSpPr>
        <p:spPr>
          <a:xfrm>
            <a:off x="8696640" y="4284000"/>
            <a:ext cx="136176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amazing how much I hated this</a:t>
            </a:r>
          </a:p>
        </p:txBody>
      </p:sp>
      <p:sp>
        <p:nvSpPr>
          <p:cNvPr id="34" name="TextShape 23">
            <a:extLst>
              <a:ext uri="{FF2B5EF4-FFF2-40B4-BE49-F238E27FC236}">
                <a16:creationId xmlns:a16="http://schemas.microsoft.com/office/drawing/2014/main" id="{B5FBAAC0-220B-F5E5-6A8B-2B05B64CCEBF}"/>
              </a:ext>
            </a:extLst>
          </p:cNvPr>
          <p:cNvSpPr txBox="1"/>
          <p:nvPr/>
        </p:nvSpPr>
        <p:spPr>
          <a:xfrm>
            <a:off x="7111402" y="447768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this movie</a:t>
            </a:r>
          </a:p>
        </p:txBody>
      </p:sp>
      <p:sp>
        <p:nvSpPr>
          <p:cNvPr id="35" name="TextShape 24">
            <a:extLst>
              <a:ext uri="{FF2B5EF4-FFF2-40B4-BE49-F238E27FC236}">
                <a16:creationId xmlns:a16="http://schemas.microsoft.com/office/drawing/2014/main" id="{A266D705-2D6E-089D-5BF2-690849782AAD}"/>
              </a:ext>
            </a:extLst>
          </p:cNvPr>
          <p:cNvSpPr txBox="1"/>
          <p:nvPr/>
        </p:nvSpPr>
        <p:spPr>
          <a:xfrm>
            <a:off x="9265296" y="2348460"/>
            <a:ext cx="1159474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this amazing movie</a:t>
            </a:r>
          </a:p>
        </p:txBody>
      </p:sp>
      <p:sp>
        <p:nvSpPr>
          <p:cNvPr id="36" name="TextShape 25">
            <a:extLst>
              <a:ext uri="{FF2B5EF4-FFF2-40B4-BE49-F238E27FC236}">
                <a16:creationId xmlns:a16="http://schemas.microsoft.com/office/drawing/2014/main" id="{C16ED685-4E67-59E5-F9C4-A5D887EF2402}"/>
              </a:ext>
            </a:extLst>
          </p:cNvPr>
          <p:cNvSpPr txBox="1"/>
          <p:nvPr/>
        </p:nvSpPr>
        <p:spPr>
          <a:xfrm>
            <a:off x="6348000" y="5234400"/>
            <a:ext cx="1314720" cy="68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the cast, hated the plot</a:t>
            </a:r>
          </a:p>
        </p:txBody>
      </p:sp>
      <p:sp>
        <p:nvSpPr>
          <p:cNvPr id="37" name="CustomShape 12">
            <a:extLst>
              <a:ext uri="{FF2B5EF4-FFF2-40B4-BE49-F238E27FC236}">
                <a16:creationId xmlns:a16="http://schemas.microsoft.com/office/drawing/2014/main" id="{D67363D9-13FA-1DFF-D4AC-C3A9CBB06396}"/>
              </a:ext>
            </a:extLst>
          </p:cNvPr>
          <p:cNvSpPr/>
          <p:nvPr/>
        </p:nvSpPr>
        <p:spPr>
          <a:xfrm>
            <a:off x="8896525" y="2402974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" name="Line 9">
            <a:extLst>
              <a:ext uri="{FF2B5EF4-FFF2-40B4-BE49-F238E27FC236}">
                <a16:creationId xmlns:a16="http://schemas.microsoft.com/office/drawing/2014/main" id="{1FACF11D-891E-9DEC-1040-4828E03A7A02}"/>
              </a:ext>
            </a:extLst>
          </p:cNvPr>
          <p:cNvSpPr/>
          <p:nvPr/>
        </p:nvSpPr>
        <p:spPr>
          <a:xfrm flipV="1">
            <a:off x="9084000" y="2762974"/>
            <a:ext cx="0" cy="90072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" name="TextShape 24">
            <a:extLst>
              <a:ext uri="{FF2B5EF4-FFF2-40B4-BE49-F238E27FC236}">
                <a16:creationId xmlns:a16="http://schemas.microsoft.com/office/drawing/2014/main" id="{F976B2B7-AF59-C126-1D06-15FA3DC5B855}"/>
              </a:ext>
            </a:extLst>
          </p:cNvPr>
          <p:cNvSpPr txBox="1"/>
          <p:nvPr/>
        </p:nvSpPr>
        <p:spPr>
          <a:xfrm>
            <a:off x="7854900" y="2242110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40" name="TextShape 24">
            <a:extLst>
              <a:ext uri="{FF2B5EF4-FFF2-40B4-BE49-F238E27FC236}">
                <a16:creationId xmlns:a16="http://schemas.microsoft.com/office/drawing/2014/main" id="{9BA7AB0C-9915-4CFA-29C0-3385F7FEE056}"/>
              </a:ext>
            </a:extLst>
          </p:cNvPr>
          <p:cNvSpPr txBox="1"/>
          <p:nvPr/>
        </p:nvSpPr>
        <p:spPr>
          <a:xfrm>
            <a:off x="7441400" y="4002791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41" name="TextShape 24">
            <a:extLst>
              <a:ext uri="{FF2B5EF4-FFF2-40B4-BE49-F238E27FC236}">
                <a16:creationId xmlns:a16="http://schemas.microsoft.com/office/drawing/2014/main" id="{E4E019E1-59E3-AD20-F93E-1E0969DDE1FF}"/>
              </a:ext>
            </a:extLst>
          </p:cNvPr>
          <p:cNvSpPr txBox="1"/>
          <p:nvPr/>
        </p:nvSpPr>
        <p:spPr>
          <a:xfrm>
            <a:off x="9116290" y="3512404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42" name="TextShape 23">
            <a:extLst>
              <a:ext uri="{FF2B5EF4-FFF2-40B4-BE49-F238E27FC236}">
                <a16:creationId xmlns:a16="http://schemas.microsoft.com/office/drawing/2014/main" id="{DF0AF347-3831-E6B4-E4E6-57AD593D266D}"/>
              </a:ext>
            </a:extLst>
          </p:cNvPr>
          <p:cNvSpPr txBox="1"/>
          <p:nvPr/>
        </p:nvSpPr>
        <p:spPr>
          <a:xfrm>
            <a:off x="6908017" y="253317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it!</a:t>
            </a:r>
          </a:p>
        </p:txBody>
      </p:sp>
      <p:sp>
        <p:nvSpPr>
          <p:cNvPr id="43" name="Line 6">
            <a:extLst>
              <a:ext uri="{FF2B5EF4-FFF2-40B4-BE49-F238E27FC236}">
                <a16:creationId xmlns:a16="http://schemas.microsoft.com/office/drawing/2014/main" id="{787E2F98-875D-1502-1E27-81FC35CFF7ED}"/>
              </a:ext>
            </a:extLst>
          </p:cNvPr>
          <p:cNvSpPr/>
          <p:nvPr/>
        </p:nvSpPr>
        <p:spPr>
          <a:xfrm flipH="1">
            <a:off x="6093934" y="1564919"/>
            <a:ext cx="1766038" cy="1675037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" name="Line 4">
            <a:extLst>
              <a:ext uri="{FF2B5EF4-FFF2-40B4-BE49-F238E27FC236}">
                <a16:creationId xmlns:a16="http://schemas.microsoft.com/office/drawing/2014/main" id="{6A47422E-A22E-937B-FD71-DCC623846BED}"/>
              </a:ext>
            </a:extLst>
          </p:cNvPr>
          <p:cNvSpPr/>
          <p:nvPr/>
        </p:nvSpPr>
        <p:spPr>
          <a:xfrm flipV="1">
            <a:off x="7868745" y="1543421"/>
            <a:ext cx="2268671" cy="14628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BDF0DB91-EBEE-4905-049E-DE006A2FC991}"/>
              </a:ext>
            </a:extLst>
          </p:cNvPr>
          <p:cNvSpPr/>
          <p:nvPr/>
        </p:nvSpPr>
        <p:spPr>
          <a:xfrm flipH="1">
            <a:off x="8432287" y="3740835"/>
            <a:ext cx="1724623" cy="1715926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" name="Line 6">
            <a:extLst>
              <a:ext uri="{FF2B5EF4-FFF2-40B4-BE49-F238E27FC236}">
                <a16:creationId xmlns:a16="http://schemas.microsoft.com/office/drawing/2014/main" id="{0D50E824-CBEA-F158-F83E-C3AFC1227994}"/>
              </a:ext>
            </a:extLst>
          </p:cNvPr>
          <p:cNvSpPr/>
          <p:nvPr/>
        </p:nvSpPr>
        <p:spPr>
          <a:xfrm flipH="1">
            <a:off x="8392524" y="1543421"/>
            <a:ext cx="1744893" cy="1696537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" name="Line 5">
            <a:extLst>
              <a:ext uri="{FF2B5EF4-FFF2-40B4-BE49-F238E27FC236}">
                <a16:creationId xmlns:a16="http://schemas.microsoft.com/office/drawing/2014/main" id="{22993249-6C7D-6A6D-026B-B53BFFBC0853}"/>
              </a:ext>
            </a:extLst>
          </p:cNvPr>
          <p:cNvSpPr/>
          <p:nvPr/>
        </p:nvSpPr>
        <p:spPr>
          <a:xfrm flipH="1" flipV="1">
            <a:off x="10137420" y="1544248"/>
            <a:ext cx="29566" cy="2197414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" name="Line 4">
            <a:extLst>
              <a:ext uri="{FF2B5EF4-FFF2-40B4-BE49-F238E27FC236}">
                <a16:creationId xmlns:a16="http://schemas.microsoft.com/office/drawing/2014/main" id="{16222E16-CEE6-EFB8-2433-DB01470BD463}"/>
              </a:ext>
            </a:extLst>
          </p:cNvPr>
          <p:cNvSpPr/>
          <p:nvPr/>
        </p:nvSpPr>
        <p:spPr>
          <a:xfrm>
            <a:off x="6096000" y="3232850"/>
            <a:ext cx="2304000" cy="0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" name="Line 4">
            <a:extLst>
              <a:ext uri="{FF2B5EF4-FFF2-40B4-BE49-F238E27FC236}">
                <a16:creationId xmlns:a16="http://schemas.microsoft.com/office/drawing/2014/main" id="{0922E9A4-4CA5-F56D-A883-AC57BB27D028}"/>
              </a:ext>
            </a:extLst>
          </p:cNvPr>
          <p:cNvSpPr/>
          <p:nvPr/>
        </p:nvSpPr>
        <p:spPr>
          <a:xfrm>
            <a:off x="6093934" y="5468516"/>
            <a:ext cx="2341507" cy="0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" name="Line 5">
            <a:extLst>
              <a:ext uri="{FF2B5EF4-FFF2-40B4-BE49-F238E27FC236}">
                <a16:creationId xmlns:a16="http://schemas.microsoft.com/office/drawing/2014/main" id="{BDB74D83-4530-9012-7D11-DA22C2926A1B}"/>
              </a:ext>
            </a:extLst>
          </p:cNvPr>
          <p:cNvSpPr/>
          <p:nvPr/>
        </p:nvSpPr>
        <p:spPr>
          <a:xfrm flipH="1" flipV="1">
            <a:off x="6095592" y="3239958"/>
            <a:ext cx="22474" cy="2228558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1" name="Line 5">
            <a:extLst>
              <a:ext uri="{FF2B5EF4-FFF2-40B4-BE49-F238E27FC236}">
                <a16:creationId xmlns:a16="http://schemas.microsoft.com/office/drawing/2014/main" id="{43DEA743-BCC5-E0BC-836B-D343FDFD0065}"/>
              </a:ext>
            </a:extLst>
          </p:cNvPr>
          <p:cNvSpPr/>
          <p:nvPr/>
        </p:nvSpPr>
        <p:spPr>
          <a:xfrm flipH="1" flipV="1">
            <a:off x="8406680" y="3232850"/>
            <a:ext cx="25608" cy="2235666"/>
          </a:xfrm>
          <a:prstGeom prst="line">
            <a:avLst/>
          </a:prstGeom>
          <a:ln w="1270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2" name="Line 8">
            <a:extLst>
              <a:ext uri="{FF2B5EF4-FFF2-40B4-BE49-F238E27FC236}">
                <a16:creationId xmlns:a16="http://schemas.microsoft.com/office/drawing/2014/main" id="{8B81DEBC-AE36-B479-FD3E-64F318179A20}"/>
              </a:ext>
            </a:extLst>
          </p:cNvPr>
          <p:cNvSpPr/>
          <p:nvPr/>
        </p:nvSpPr>
        <p:spPr>
          <a:xfrm flipH="1" flipV="1">
            <a:off x="7872046" y="2575385"/>
            <a:ext cx="971013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3" name="CustomShape 14">
            <a:extLst>
              <a:ext uri="{FF2B5EF4-FFF2-40B4-BE49-F238E27FC236}">
                <a16:creationId xmlns:a16="http://schemas.microsoft.com/office/drawing/2014/main" id="{2BA413C9-CAD3-4A67-E019-2E72DFD32F53}"/>
              </a:ext>
            </a:extLst>
          </p:cNvPr>
          <p:cNvSpPr/>
          <p:nvPr/>
        </p:nvSpPr>
        <p:spPr>
          <a:xfrm>
            <a:off x="7681297" y="2457720"/>
            <a:ext cx="360000" cy="360000"/>
          </a:xfrm>
          <a:prstGeom prst="ellipse">
            <a:avLst/>
          </a:prstGeom>
          <a:solidFill>
            <a:srgbClr val="729FCF"/>
          </a:solidFill>
          <a:ln w="1270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1532B884-F0B3-68C3-01D1-43D6AE9D1C74}"/>
              </a:ext>
            </a:extLst>
          </p:cNvPr>
          <p:cNvSpPr/>
          <p:nvPr/>
        </p:nvSpPr>
        <p:spPr>
          <a:xfrm>
            <a:off x="7486650" y="1914525"/>
            <a:ext cx="2357438" cy="2143125"/>
          </a:xfrm>
          <a:custGeom>
            <a:avLst/>
            <a:gdLst>
              <a:gd name="connsiteX0" fmla="*/ 0 w 2357438"/>
              <a:gd name="connsiteY0" fmla="*/ 28575 h 2143125"/>
              <a:gd name="connsiteX1" fmla="*/ 85725 w 2357438"/>
              <a:gd name="connsiteY1" fmla="*/ 2100263 h 2143125"/>
              <a:gd name="connsiteX2" fmla="*/ 2357438 w 2357438"/>
              <a:gd name="connsiteY2" fmla="*/ 2143125 h 2143125"/>
              <a:gd name="connsiteX3" fmla="*/ 2328863 w 2357438"/>
              <a:gd name="connsiteY3" fmla="*/ 0 h 2143125"/>
              <a:gd name="connsiteX4" fmla="*/ 0 w 2357438"/>
              <a:gd name="connsiteY4" fmla="*/ 28575 h 214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7438" h="2143125">
                <a:moveTo>
                  <a:pt x="0" y="28575"/>
                </a:moveTo>
                <a:lnTo>
                  <a:pt x="85725" y="2100263"/>
                </a:lnTo>
                <a:lnTo>
                  <a:pt x="2357438" y="2143125"/>
                </a:lnTo>
                <a:lnTo>
                  <a:pt x="2328863" y="0"/>
                </a:lnTo>
                <a:lnTo>
                  <a:pt x="0" y="28575"/>
                </a:lnTo>
                <a:close/>
              </a:path>
            </a:pathLst>
          </a:custGeom>
          <a:solidFill>
            <a:schemeClr val="accent1">
              <a:alpha val="17115"/>
            </a:schemeClr>
          </a:solidFill>
          <a:ln w="12700"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55" name="TextShape 24">
            <a:extLst>
              <a:ext uri="{FF2B5EF4-FFF2-40B4-BE49-F238E27FC236}">
                <a16:creationId xmlns:a16="http://schemas.microsoft.com/office/drawing/2014/main" id="{19A4B131-F464-A492-3F22-0E851D84C85C}"/>
              </a:ext>
            </a:extLst>
          </p:cNvPr>
          <p:cNvSpPr txBox="1"/>
          <p:nvPr/>
        </p:nvSpPr>
        <p:spPr>
          <a:xfrm>
            <a:off x="6714571" y="4741342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2562962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B7BBB-BDEE-0645-B9B4-BC16FFC45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695B9B-A7BB-114B-9B0A-D884141025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 err="1"/>
              <a:t>angus.roberts@kcl.ac.uk</a:t>
            </a:r>
            <a:br>
              <a:rPr lang="en-GB" dirty="0"/>
            </a:br>
            <a:r>
              <a:rPr lang="en-GB" dirty="0"/>
              <a:t>https://</a:t>
            </a:r>
            <a:r>
              <a:rPr lang="en-GB" dirty="0" err="1"/>
              <a:t>www.kcl.ac.uk</a:t>
            </a:r>
            <a:r>
              <a:rPr lang="en-GB" dirty="0"/>
              <a:t>/people/angus-</a:t>
            </a:r>
            <a:r>
              <a:rPr lang="en-GB" dirty="0" err="1"/>
              <a:t>roberts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9036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KCL CTEL presentation template_180112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t" anchorCtr="0"/>
      <a:lstStyle>
        <a:defPPr algn="l">
          <a:defRPr sz="1400" b="1" dirty="0" smtClean="0">
            <a:solidFill>
              <a:schemeClr val="tx1"/>
            </a:solidFill>
            <a:cs typeface="Georgia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2558F287BC8344AD539CDC4DA17FBC" ma:contentTypeVersion="10" ma:contentTypeDescription="Create a new document." ma:contentTypeScope="" ma:versionID="165e8038d85e89d0753c71c915416bd7">
  <xsd:schema xmlns:xsd="http://www.w3.org/2001/XMLSchema" xmlns:xs="http://www.w3.org/2001/XMLSchema" xmlns:p="http://schemas.microsoft.com/office/2006/metadata/properties" xmlns:ns2="a9a9e2ba-2d19-46fe-bf54-0255447a607c" xmlns:ns3="8e67869f-b319-4f8e-812d-d2b9322169ce" targetNamespace="http://schemas.microsoft.com/office/2006/metadata/properties" ma:root="true" ma:fieldsID="abf99e3026b4072fe3426938b59b700a" ns2:_="" ns3:_="">
    <xsd:import namespace="a9a9e2ba-2d19-46fe-bf54-0255447a607c"/>
    <xsd:import namespace="8e67869f-b319-4f8e-812d-d2b9322169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9e2ba-2d19-46fe-bf54-0255447a60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67869f-b319-4f8e-812d-d2b9322169c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B57E6C-04A0-4EB4-9DC4-971645A5D1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a9e2ba-2d19-46fe-bf54-0255447a607c"/>
    <ds:schemaRef ds:uri="8e67869f-b319-4f8e-812d-d2b9322169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9C8777-C6EC-4528-A529-B1E15BCDF7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B4FFAB-A2D9-4FD5-855F-F65126373F7D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e67869f-b319-4f8e-812d-d2b9322169ce"/>
    <ds:schemaRef ds:uri="http://purl.org/dc/terms/"/>
    <ds:schemaRef ds:uri="a9a9e2ba-2d19-46fe-bf54-0255447a60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10617</TotalTime>
  <Words>286</Words>
  <Application>Microsoft Macintosh PowerPoint</Application>
  <PresentationFormat>Widescreen</PresentationFormat>
  <Paragraphs>63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Georgia</vt:lpstr>
      <vt:lpstr>Wingdings</vt:lpstr>
      <vt:lpstr>KCL CTEL presentation template_180112</vt:lpstr>
      <vt:lpstr>A simple document model:  Bag-of-Words  </vt:lpstr>
      <vt:lpstr>Rationalism: pattern matching</vt:lpstr>
      <vt:lpstr>The rise of empiricism</vt:lpstr>
      <vt:lpstr>Representation documents: Bag of Words </vt:lpstr>
      <vt:lpstr>Bag of words as a vector space</vt:lpstr>
      <vt:lpstr>Bag of words</vt:lpstr>
      <vt:lpstr>Bag of words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Harrison, Sue</dc:creator>
  <cp:lastModifiedBy>Angus Roberts</cp:lastModifiedBy>
  <cp:revision>184</cp:revision>
  <dcterms:created xsi:type="dcterms:W3CDTF">2018-06-13T12:38:06Z</dcterms:created>
  <dcterms:modified xsi:type="dcterms:W3CDTF">2026-01-19T15:10:25Z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0x010100B02558F287BC8344AD539CDC4DA17FBC</vt:lpwstr>
  </property>
</Properties>
</file>