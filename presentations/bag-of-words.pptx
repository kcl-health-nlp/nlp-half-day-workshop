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sldIdLst>
    <p:sldId id="311" r:id="rId5"/>
    <p:sldId id="4752" r:id="rId6"/>
    <p:sldId id="4753" r:id="rId7"/>
    <p:sldId id="546" r:id="rId8"/>
    <p:sldId id="271" r:id="rId9"/>
    <p:sldId id="4810" r:id="rId10"/>
    <p:sldId id="4811" r:id="rId11"/>
    <p:sldId id="30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06DE9B2-5587-B646-BEE3-5A646955262F}">
          <p14:sldIdLst>
            <p14:sldId id="311"/>
            <p14:sldId id="4752"/>
            <p14:sldId id="4753"/>
            <p14:sldId id="546"/>
            <p14:sldId id="271"/>
            <p14:sldId id="4810"/>
            <p14:sldId id="4811"/>
            <p14:sldId id="303"/>
          </p14:sldIdLst>
        </p14:section>
        <p14:section name="End of presentation slide" id="{FA6E58FB-4655-4ADA-838A-304575EC2E6B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arty, Anne" initials="CA" lastIdx="5" clrIdx="0">
    <p:extLst>
      <p:ext uri="{19B8F6BF-5375-455C-9EA6-DF929625EA0E}">
        <p15:presenceInfo xmlns:p15="http://schemas.microsoft.com/office/powerpoint/2012/main" userId="S::k1771048@kcl.ac.uk::58c097d6-c91f-4fc1-8022-8a02e1ab2328" providerId="AD"/>
      </p:ext>
    </p:extLst>
  </p:cmAuthor>
  <p:cmAuthor id="2" name="user" initials="u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EA0"/>
    <a:srgbClr val="C8E128"/>
    <a:srgbClr val="0A2D50"/>
    <a:srgbClr val="5A6469"/>
    <a:srgbClr val="002395"/>
    <a:srgbClr val="501491"/>
    <a:srgbClr val="99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27F97BB-C833-4FB7-BDE5-3F7075034690}" styleName="Themed Style 2 –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–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83" autoAdjust="0"/>
    <p:restoredTop sz="86301" autoAdjust="0"/>
  </p:normalViewPr>
  <p:slideViewPr>
    <p:cSldViewPr snapToGrid="0">
      <p:cViewPr varScale="1">
        <p:scale>
          <a:sx n="109" d="100"/>
          <a:sy n="109" d="100"/>
        </p:scale>
        <p:origin x="1296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220CBB-D972-D444-8592-B23A7758CEF7}" type="datetimeFigureOut">
              <a:rPr lang="en-US" smtClean="0"/>
              <a:t>1/18/26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3B49CD-7E1B-C543-B23F-34FDB672E3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049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3B49CD-7E1B-C543-B23F-34FDB672E37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6171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3B49CD-7E1B-C543-B23F-34FDB672E37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1157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3B49CD-7E1B-C543-B23F-34FDB672E37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107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file://localhost/Users/mac1/Desktop/KCL%20LOGO%20WOB.png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file://localhost/Users/mac1/Desktop/KCL_box_red_485_rgb.png" TargetMode="External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UK Cover slide">
    <p:bg>
      <p:bgPr>
        <a:solidFill>
          <a:srgbClr val="CDD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505DBA87-7AB9-4144-A17F-43A9C30380F1}"/>
              </a:ext>
            </a:extLst>
          </p:cNvPr>
          <p:cNvGrpSpPr/>
          <p:nvPr userDrawn="1"/>
        </p:nvGrpSpPr>
        <p:grpSpPr>
          <a:xfrm>
            <a:off x="2744511" y="869793"/>
            <a:ext cx="6692677" cy="5118415"/>
            <a:chOff x="1211282" y="869792"/>
            <a:chExt cx="6721435" cy="51184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ECAA9C9-0BE4-5F43-B408-44CF4ECDD428}"/>
                </a:ext>
              </a:extLst>
            </p:cNvPr>
            <p:cNvSpPr/>
            <p:nvPr userDrawn="1"/>
          </p:nvSpPr>
          <p:spPr>
            <a:xfrm>
              <a:off x="1211282" y="869792"/>
              <a:ext cx="6721435" cy="5118415"/>
            </a:xfrm>
            <a:prstGeom prst="rect">
              <a:avLst/>
            </a:prstGeom>
            <a:solidFill>
              <a:srgbClr val="E223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2"/>
            </a:p>
          </p:txBody>
        </p:sp>
        <p:pic>
          <p:nvPicPr>
            <p:cNvPr id="5" name="KCL-LOGO-INTERNATIONAL.png">
              <a:extLst>
                <a:ext uri="{FF2B5EF4-FFF2-40B4-BE49-F238E27FC236}">
                  <a16:creationId xmlns:a16="http://schemas.microsoft.com/office/drawing/2014/main" id="{B036F538-478A-B641-903C-F7985F6DF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r:link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024655" y="1671090"/>
              <a:ext cx="5127602" cy="355405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889499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Two statues in front of Bush House building&#10;&#10;">
            <a:extLst>
              <a:ext uri="{FF2B5EF4-FFF2-40B4-BE49-F238E27FC236}">
                <a16:creationId xmlns:a16="http://schemas.microsoft.com/office/drawing/2014/main" id="{F4793EB2-2819-E843-A12D-5A71221FF36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6275" y="0"/>
            <a:ext cx="8125725" cy="6858000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 b="0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/>
          <a:lstStyle>
            <a:lvl1pPr>
              <a:defRPr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78102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 - joint - alt 3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arge brick building with a sign in front of it&#10;&#10;Description automatically generated with medium confidence">
            <a:extLst>
              <a:ext uri="{FF2B5EF4-FFF2-40B4-BE49-F238E27FC236}">
                <a16:creationId xmlns:a16="http://schemas.microsoft.com/office/drawing/2014/main" id="{6850A433-9891-9424-62CE-5B7142E9E2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01" r="26803"/>
          <a:stretch/>
        </p:blipFill>
        <p:spPr>
          <a:xfrm>
            <a:off x="4154555" y="0"/>
            <a:ext cx="8020878" cy="685726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 b="0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518081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ush House entrance">
            <a:extLst>
              <a:ext uri="{FF2B5EF4-FFF2-40B4-BE49-F238E27FC236}">
                <a16:creationId xmlns:a16="http://schemas.microsoft.com/office/drawing/2014/main" id="{BB2856B8-0170-3D42-B170-7ED5ACB03B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2950" y="-736"/>
            <a:ext cx="8126158" cy="6858000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+mj-lt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>
            <a:noAutofit/>
          </a:bodyPr>
          <a:lstStyle>
            <a:lvl1pPr>
              <a:defRPr sz="2000"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615226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arge brick building with a sign in front of it&#10;&#10;Description automatically generated with medium confidence">
            <a:extLst>
              <a:ext uri="{FF2B5EF4-FFF2-40B4-BE49-F238E27FC236}">
                <a16:creationId xmlns:a16="http://schemas.microsoft.com/office/drawing/2014/main" id="{3A4DD4F8-76F5-A717-0A8F-608762CBB09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2" r="24679"/>
          <a:stretch/>
        </p:blipFill>
        <p:spPr>
          <a:xfrm>
            <a:off x="4065973" y="0"/>
            <a:ext cx="8116087" cy="6893221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+mj-lt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>
            <a:noAutofit/>
          </a:bodyPr>
          <a:lstStyle>
            <a:lvl1pPr>
              <a:defRPr sz="2000"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0748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slide - joint - alt 3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ush House entrance">
            <a:extLst>
              <a:ext uri="{FF2B5EF4-FFF2-40B4-BE49-F238E27FC236}">
                <a16:creationId xmlns:a16="http://schemas.microsoft.com/office/drawing/2014/main" id="{BB2856B8-0170-3D42-B170-7ED5ACB03B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2950" y="-736"/>
            <a:ext cx="812615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387262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graduates standing in front of a crowd posing for the camera&#10;">
            <a:extLst>
              <a:ext uri="{FF2B5EF4-FFF2-40B4-BE49-F238E27FC236}">
                <a16:creationId xmlns:a16="http://schemas.microsoft.com/office/drawing/2014/main" id="{BE2D952E-64D5-A64E-9959-50F7F86788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3512" y="0"/>
            <a:ext cx="8125034" cy="6858000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146538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slide - joint - alt 3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graduates standing in front of a crowd posing for the camera&#10;">
            <a:extLst>
              <a:ext uri="{FF2B5EF4-FFF2-40B4-BE49-F238E27FC236}">
                <a16:creationId xmlns:a16="http://schemas.microsoft.com/office/drawing/2014/main" id="{BE2D952E-64D5-A64E-9959-50F7F86788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3512" y="0"/>
            <a:ext cx="8125034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318628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oup of students walking around Strand Campus">
            <a:extLst>
              <a:ext uri="{FF2B5EF4-FFF2-40B4-BE49-F238E27FC236}">
                <a16:creationId xmlns:a16="http://schemas.microsoft.com/office/drawing/2014/main" id="{178B1CE5-1B5E-C947-8C99-B485A71AE7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160" y="-736"/>
            <a:ext cx="8123738" cy="6858000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44154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slide - joint - alt 3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oup of students walking around Strand Campus">
            <a:extLst>
              <a:ext uri="{FF2B5EF4-FFF2-40B4-BE49-F238E27FC236}">
                <a16:creationId xmlns:a16="http://schemas.microsoft.com/office/drawing/2014/main" id="{178B1CE5-1B5E-C947-8C99-B485A71AE7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160" y="-736"/>
            <a:ext cx="812373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55378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- bullets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 marL="342900" indent="-342900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342900" indent="-342900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Georgia"/>
                <a:ea typeface="+mn-ea"/>
                <a:cs typeface="Georgia"/>
              </a:defRPr>
            </a:lvl2pPr>
            <a:lvl3pPr marL="268715" indent="-268715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Georgia"/>
                <a:ea typeface="+mn-ea"/>
                <a:cs typeface="Georgia"/>
              </a:defRPr>
            </a:lvl3pPr>
            <a:lvl4pPr marL="537429" indent="-268715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4pPr>
            <a:lvl5pPr marL="806144" indent="-268715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5pPr>
            <a:lvl6pPr marL="2286000" indent="0">
              <a:buNone/>
              <a:defRPr/>
            </a:lvl6pPr>
          </a:lstStyle>
          <a:p>
            <a:r>
              <a:rPr lang="en-US" dirty="0"/>
              <a:t>First level bullet point (indent x0)</a:t>
            </a:r>
          </a:p>
          <a:p>
            <a:pPr lvl="3"/>
            <a:r>
              <a:rPr lang="en-US" dirty="0"/>
              <a:t>Second level bullet point (indent x1)</a:t>
            </a:r>
          </a:p>
          <a:p>
            <a:pPr lvl="4"/>
            <a:r>
              <a:rPr lang="en-US" dirty="0"/>
              <a:t>Third level bullet point (indent x2)</a:t>
            </a:r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rgbClr val="C2B6A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2472744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- text and bullet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Two columns – text and bullets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80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A2D50"/>
                </a:solidFill>
                <a:latin typeface="+mj-lt"/>
                <a:cs typeface="Impact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pPr marL="0" indent="0">
              <a:buNone/>
            </a:pPr>
            <a:r>
              <a:rPr lang="en-US" dirty="0"/>
              <a:t>First line of text/heading/intro would go here, remove bullet (indent x0)</a:t>
            </a:r>
          </a:p>
          <a:p>
            <a:pPr lvl="1"/>
            <a:r>
              <a:rPr lang="en-US" dirty="0"/>
              <a:t>Second line of text would go here (remove bullet, indent x1)</a:t>
            </a:r>
          </a:p>
          <a:p>
            <a:pPr lvl="2"/>
            <a:r>
              <a:rPr lang="en-US" dirty="0"/>
              <a:t>First level bullet point (indent x2)</a:t>
            </a:r>
          </a:p>
          <a:p>
            <a:pPr lvl="3"/>
            <a:r>
              <a:rPr lang="en-US" dirty="0"/>
              <a:t>Second level bullet point (indent x3)</a:t>
            </a:r>
          </a:p>
          <a:p>
            <a:pPr lvl="4"/>
            <a:r>
              <a:rPr lang="en-US" dirty="0"/>
              <a:t>Third level bullet point (indent x4)</a:t>
            </a:r>
          </a:p>
          <a:p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336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A2D50"/>
                </a:solidFill>
                <a:latin typeface="+mj-lt"/>
                <a:cs typeface="Impact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line of text/heading/intro would go here, remove bullet (indent x0)</a:t>
            </a:r>
          </a:p>
          <a:p>
            <a:pPr lvl="1"/>
            <a:r>
              <a:rPr lang="en-US" dirty="0"/>
              <a:t>Second line of text would go here (remove bullet, indent x1)</a:t>
            </a:r>
          </a:p>
          <a:p>
            <a:pPr lvl="2"/>
            <a:r>
              <a:rPr lang="en-US" dirty="0"/>
              <a:t>First level bullet point (indent x2)</a:t>
            </a:r>
          </a:p>
          <a:p>
            <a:pPr lvl="3"/>
            <a:r>
              <a:rPr lang="en-US" dirty="0"/>
              <a:t>Second level bullet point (indent x3)</a:t>
            </a:r>
          </a:p>
          <a:p>
            <a:pPr lvl="4"/>
            <a:r>
              <a:rPr lang="en-US" dirty="0"/>
              <a:t>Third level bullet point (indent x4)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6542159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- bullets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GB" dirty="0"/>
              <a:t>Two columns – bullets only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80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level bullet point (indent x0)</a:t>
            </a:r>
          </a:p>
          <a:p>
            <a:pPr lvl="1"/>
            <a:r>
              <a:rPr lang="en-US" dirty="0"/>
              <a:t>Second level bullet point (indent x1)</a:t>
            </a:r>
          </a:p>
          <a:p>
            <a:pPr lvl="2"/>
            <a:r>
              <a:rPr lang="en-US" dirty="0"/>
              <a:t>Third level bullet point (indent x2)</a:t>
            </a:r>
          </a:p>
          <a:p>
            <a:pPr lvl="3"/>
            <a:r>
              <a:rPr lang="en-US" dirty="0"/>
              <a:t>Fourth level bullet point (indent x3)</a:t>
            </a:r>
          </a:p>
          <a:p>
            <a:pPr lvl="4"/>
            <a:r>
              <a:rPr lang="en-US" dirty="0"/>
              <a:t>Fifth level bullet point (indent x4)</a:t>
            </a:r>
          </a:p>
          <a:p>
            <a:pPr lvl="0"/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336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level bullet point (indent x0)</a:t>
            </a:r>
          </a:p>
          <a:p>
            <a:pPr lvl="1"/>
            <a:r>
              <a:rPr lang="en-US" dirty="0"/>
              <a:t>Second level bullet point (indent x1)</a:t>
            </a:r>
          </a:p>
          <a:p>
            <a:pPr lvl="2"/>
            <a:r>
              <a:rPr lang="en-US" dirty="0"/>
              <a:t>Third level bullet point (indent x2)</a:t>
            </a:r>
          </a:p>
          <a:p>
            <a:pPr lvl="3"/>
            <a:r>
              <a:rPr lang="en-US" dirty="0"/>
              <a:t>Fourth level bullet point (indent x3)</a:t>
            </a:r>
          </a:p>
          <a:p>
            <a:pPr lvl="4"/>
            <a:r>
              <a:rPr lang="en-US" dirty="0"/>
              <a:t>Fifth level bullet point (indent x4)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3507567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- text/bullets and image - alt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Two columns – text/bullets and image – alt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80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A2D50"/>
                </a:solidFill>
                <a:latin typeface="+mj-lt"/>
                <a:cs typeface="Impact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1991"/>
            </a:lvl4pPr>
            <a:lvl5pPr marL="806144" indent="-268715">
              <a:defRPr sz="1991"/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line of text/heading/intro would go here, remove bullet (indent x0)</a:t>
            </a:r>
          </a:p>
          <a:p>
            <a:pPr lvl="1"/>
            <a:r>
              <a:rPr lang="en-US" dirty="0"/>
              <a:t>Second line of text would go here (remove bullet, indent x1)</a:t>
            </a:r>
          </a:p>
          <a:p>
            <a:pPr lvl="2"/>
            <a:r>
              <a:rPr lang="en-US" dirty="0"/>
              <a:t>First level bullet point (indent x2)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6335667" y="1089025"/>
            <a:ext cx="5376333" cy="4860925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221960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– text/bullets and image – alt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Two columns – text/bullets and image – alt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336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A2D50"/>
                </a:solidFill>
                <a:latin typeface="+mj-lt"/>
                <a:cs typeface="Impact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line of text/heading/intro would go here, remove bullet (indent x0)</a:t>
            </a:r>
          </a:p>
          <a:p>
            <a:pPr lvl="1"/>
            <a:r>
              <a:rPr lang="en-US" dirty="0"/>
              <a:t>Second line of text would go here (remove bullet, indent x1)</a:t>
            </a:r>
          </a:p>
          <a:p>
            <a:pPr lvl="2"/>
            <a:r>
              <a:rPr lang="en-US" dirty="0"/>
              <a:t>First level bullet point (indent x2)</a:t>
            </a:r>
          </a:p>
          <a:p>
            <a:pPr lvl="3"/>
            <a:r>
              <a:rPr lang="en-US" dirty="0"/>
              <a:t>Second level bullet point (indent x3)</a:t>
            </a:r>
          </a:p>
          <a:p>
            <a:pPr lvl="4"/>
            <a:r>
              <a:rPr lang="en-US" dirty="0"/>
              <a:t>Third level bullet point (indent x4)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480001" y="1088356"/>
            <a:ext cx="5376333" cy="4860925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119388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– bullets and image – alt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Two columns – bullets and image – alt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80000" y="1088721"/>
            <a:ext cx="5376000" cy="4860560"/>
          </a:xfrm>
        </p:spPr>
        <p:txBody>
          <a:bodyPr>
            <a:normAutofit/>
          </a:bodyPr>
          <a:lstStyle>
            <a:lvl1pPr marL="0" indent="0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None/>
              <a:defRPr lang="en-GB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level bullet point (indent x0)</a:t>
            </a:r>
          </a:p>
          <a:p>
            <a:pPr lvl="1"/>
            <a:r>
              <a:rPr lang="en-US" dirty="0"/>
              <a:t>Second level bullet point (indent x1)</a:t>
            </a:r>
          </a:p>
          <a:p>
            <a:pPr lvl="2"/>
            <a:r>
              <a:rPr lang="en-US" dirty="0"/>
              <a:t>Third level bullet point (indent x2)</a:t>
            </a:r>
          </a:p>
          <a:p>
            <a:pPr lvl="3"/>
            <a:r>
              <a:rPr lang="en-US" dirty="0"/>
              <a:t>Fourth level bullet point (indent x3)</a:t>
            </a:r>
          </a:p>
          <a:p>
            <a:pPr lvl="4"/>
            <a:r>
              <a:rPr lang="en-US" dirty="0"/>
              <a:t>Fifth level bullet point (indent x4)</a:t>
            </a:r>
          </a:p>
          <a:p>
            <a:pPr lvl="0"/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6335667" y="1089025"/>
            <a:ext cx="5376333" cy="4860925"/>
          </a:xfrm>
        </p:spPr>
        <p:txBody>
          <a:bodyPr/>
          <a:lstStyle/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6163884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– bullets and image – alt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Two columns – bullets and image – alt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336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342900" indent="-342900"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342900" indent="-342900"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268714" indent="0">
              <a:buFont typeface="Arial" panose="020B0604020202020204" pitchFamily="34" charset="0"/>
              <a:buNone/>
              <a:defRPr sz="2000">
                <a:latin typeface="+mn-lt"/>
              </a:defRPr>
            </a:lvl4pPr>
            <a:lvl5pPr marL="537429" indent="0">
              <a:buFont typeface="Arial" panose="020B0604020202020204" pitchFamily="34" charset="0"/>
              <a:buNone/>
              <a:defRPr sz="2000">
                <a:latin typeface="+mn-lt"/>
              </a:defRPr>
            </a:lvl5pPr>
            <a:lvl6pPr marL="2286000" indent="0">
              <a:buNone/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level bullet point (indent x0)</a:t>
            </a:r>
          </a:p>
          <a:p>
            <a:pPr lvl="1"/>
            <a:r>
              <a:rPr lang="en-US" dirty="0"/>
              <a:t>Second level bullet point (indent x1)</a:t>
            </a:r>
          </a:p>
          <a:p>
            <a:pPr lvl="2"/>
            <a:r>
              <a:rPr lang="en-US" dirty="0"/>
              <a:t>Third level bullet point (indent x2)</a:t>
            </a:r>
          </a:p>
          <a:p>
            <a:pPr lvl="3"/>
            <a:r>
              <a:rPr lang="en-US" dirty="0"/>
              <a:t>Fourth level bullet point (indent x3)</a:t>
            </a:r>
          </a:p>
          <a:p>
            <a:pPr lvl="4"/>
            <a:r>
              <a:rPr lang="en-US" dirty="0"/>
              <a:t>Fifth level bullet point (indent x4)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480001" y="1088356"/>
            <a:ext cx="5376333" cy="4860925"/>
          </a:xfrm>
        </p:spPr>
        <p:txBody>
          <a:bodyPr/>
          <a:lstStyle/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6434866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x1 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Picture x1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rgbClr val="C2B6A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134C904-740B-E84D-B324-36B6DE7B233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9425" y="1049338"/>
            <a:ext cx="11233150" cy="475879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29D345-CF89-564D-B6D0-39BB56CBE9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2063" y="5949280"/>
            <a:ext cx="11280263" cy="54872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85318805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x 4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80002" y="1088720"/>
            <a:ext cx="5496000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80001" y="5949280"/>
            <a:ext cx="11232000" cy="548720"/>
          </a:xfrm>
        </p:spPr>
        <p:txBody>
          <a:bodyPr/>
          <a:lstStyle>
            <a:lvl1pPr marL="0" indent="0">
              <a:buNone/>
              <a:defRPr sz="1394"/>
            </a:lvl1pPr>
            <a:lvl2pPr marL="455234" indent="0">
              <a:buNone/>
              <a:defRPr sz="1195"/>
            </a:lvl2pPr>
            <a:lvl3pPr marL="910468" indent="0">
              <a:buNone/>
              <a:defRPr sz="996"/>
            </a:lvl3pPr>
            <a:lvl4pPr marL="1365702" indent="0">
              <a:buNone/>
              <a:defRPr sz="896"/>
            </a:lvl4pPr>
            <a:lvl5pPr marL="1820936" indent="0">
              <a:buNone/>
              <a:defRPr sz="896"/>
            </a:lvl5pPr>
            <a:lvl6pPr marL="2276170" indent="0">
              <a:buNone/>
              <a:defRPr sz="896"/>
            </a:lvl6pPr>
            <a:lvl7pPr marL="2731404" indent="0">
              <a:buNone/>
              <a:defRPr sz="896"/>
            </a:lvl7pPr>
            <a:lvl8pPr marL="3186638" indent="0">
              <a:buNone/>
              <a:defRPr sz="896"/>
            </a:lvl8pPr>
            <a:lvl9pPr marL="3641872" indent="0">
              <a:buNone/>
              <a:defRPr sz="896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idx="13"/>
          </p:nvPr>
        </p:nvSpPr>
        <p:spPr>
          <a:xfrm>
            <a:off x="480002" y="3519000"/>
            <a:ext cx="5496000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8" name="Picture Placeholder 2"/>
          <p:cNvSpPr>
            <a:spLocks noGrp="1"/>
          </p:cNvSpPr>
          <p:nvPr>
            <p:ph type="pic" idx="14"/>
          </p:nvPr>
        </p:nvSpPr>
        <p:spPr>
          <a:xfrm>
            <a:off x="6215999" y="1088720"/>
            <a:ext cx="5499043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9" name="Picture Placeholder 2"/>
          <p:cNvSpPr>
            <a:spLocks noGrp="1"/>
          </p:cNvSpPr>
          <p:nvPr>
            <p:ph type="pic" idx="15"/>
          </p:nvPr>
        </p:nvSpPr>
        <p:spPr>
          <a:xfrm>
            <a:off x="6215999" y="3519000"/>
            <a:ext cx="5499043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Picture x4</a:t>
            </a:r>
          </a:p>
        </p:txBody>
      </p:sp>
      <p:cxnSp>
        <p:nvCxnSpPr>
          <p:cNvPr id="14" name="Straight Connector 13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5416929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x 6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80003" y="1088720"/>
            <a:ext cx="3600028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80001" y="5949280"/>
            <a:ext cx="11232000" cy="548720"/>
          </a:xfrm>
        </p:spPr>
        <p:txBody>
          <a:bodyPr/>
          <a:lstStyle>
            <a:lvl1pPr marL="0" indent="0">
              <a:buNone/>
              <a:defRPr sz="1394"/>
            </a:lvl1pPr>
            <a:lvl2pPr marL="455234" indent="0">
              <a:buNone/>
              <a:defRPr sz="1195"/>
            </a:lvl2pPr>
            <a:lvl3pPr marL="910468" indent="0">
              <a:buNone/>
              <a:defRPr sz="996"/>
            </a:lvl3pPr>
            <a:lvl4pPr marL="1365702" indent="0">
              <a:buNone/>
              <a:defRPr sz="896"/>
            </a:lvl4pPr>
            <a:lvl5pPr marL="1820936" indent="0">
              <a:buNone/>
              <a:defRPr sz="896"/>
            </a:lvl5pPr>
            <a:lvl6pPr marL="2276170" indent="0">
              <a:buNone/>
              <a:defRPr sz="896"/>
            </a:lvl6pPr>
            <a:lvl7pPr marL="2731404" indent="0">
              <a:buNone/>
              <a:defRPr sz="896"/>
            </a:lvl7pPr>
            <a:lvl8pPr marL="3186638" indent="0">
              <a:buNone/>
              <a:defRPr sz="896"/>
            </a:lvl8pPr>
            <a:lvl9pPr marL="3641872" indent="0">
              <a:buNone/>
              <a:defRPr sz="896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idx="13"/>
          </p:nvPr>
        </p:nvSpPr>
        <p:spPr>
          <a:xfrm>
            <a:off x="480003" y="3519000"/>
            <a:ext cx="3600028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idx="14"/>
          </p:nvPr>
        </p:nvSpPr>
        <p:spPr>
          <a:xfrm>
            <a:off x="8111970" y="1088720"/>
            <a:ext cx="3603072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9" name="Picture Placeholder 2"/>
          <p:cNvSpPr>
            <a:spLocks noGrp="1"/>
          </p:cNvSpPr>
          <p:nvPr>
            <p:ph type="pic" idx="15"/>
          </p:nvPr>
        </p:nvSpPr>
        <p:spPr>
          <a:xfrm>
            <a:off x="8111970" y="3519000"/>
            <a:ext cx="3603072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Picture x6</a:t>
            </a:r>
          </a:p>
        </p:txBody>
      </p:sp>
      <p:sp>
        <p:nvSpPr>
          <p:cNvPr id="24" name="Picture Placeholder 2"/>
          <p:cNvSpPr>
            <a:spLocks noGrp="1"/>
          </p:cNvSpPr>
          <p:nvPr>
            <p:ph type="pic" idx="16"/>
          </p:nvPr>
        </p:nvSpPr>
        <p:spPr>
          <a:xfrm>
            <a:off x="4295986" y="1088720"/>
            <a:ext cx="3603072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 dirty="0"/>
          </a:p>
        </p:txBody>
      </p:sp>
      <p:sp>
        <p:nvSpPr>
          <p:cNvPr id="25" name="Picture Placeholder 2"/>
          <p:cNvSpPr>
            <a:spLocks noGrp="1"/>
          </p:cNvSpPr>
          <p:nvPr>
            <p:ph type="pic" idx="17"/>
          </p:nvPr>
        </p:nvSpPr>
        <p:spPr>
          <a:xfrm>
            <a:off x="4295986" y="3519000"/>
            <a:ext cx="3603072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 dirty="0"/>
          </a:p>
        </p:txBody>
      </p:sp>
      <p:cxnSp>
        <p:nvCxnSpPr>
          <p:cNvPr id="20" name="Straight Connector 19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8028718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- teal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0000" y="4689281"/>
            <a:ext cx="11232000" cy="728721"/>
          </a:xfrm>
        </p:spPr>
        <p:txBody>
          <a:bodyPr>
            <a:normAutofit/>
          </a:bodyPr>
          <a:lstStyle>
            <a:lvl1pPr>
              <a:defRPr sz="45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0000" y="5598000"/>
            <a:ext cx="11232000" cy="891700"/>
          </a:xfrm>
        </p:spPr>
        <p:txBody>
          <a:bodyPr/>
          <a:lstStyle>
            <a:lvl1pPr marL="0" indent="0" algn="l">
              <a:buNone/>
              <a:defRPr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Section 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553732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- sea blu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0000" y="4689281"/>
            <a:ext cx="11232000" cy="728721"/>
          </a:xfrm>
        </p:spPr>
        <p:txBody>
          <a:bodyPr>
            <a:normAutofit/>
          </a:bodyPr>
          <a:lstStyle>
            <a:lvl1pPr>
              <a:defRPr sz="45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0000" y="5598000"/>
            <a:ext cx="11232000" cy="891700"/>
          </a:xfrm>
        </p:spPr>
        <p:txBody>
          <a:bodyPr/>
          <a:lstStyle>
            <a:lvl1pPr marL="0" indent="0" algn="l">
              <a:buNone/>
              <a:defRPr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Section 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75678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- orang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0000" y="4689281"/>
            <a:ext cx="11232000" cy="728721"/>
          </a:xfrm>
        </p:spPr>
        <p:txBody>
          <a:bodyPr>
            <a:normAutofit/>
          </a:bodyPr>
          <a:lstStyle>
            <a:lvl1pPr>
              <a:defRPr sz="45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0000" y="5598000"/>
            <a:ext cx="11232000" cy="1080000"/>
          </a:xfrm>
        </p:spPr>
        <p:txBody>
          <a:bodyPr/>
          <a:lstStyle>
            <a:lvl1pPr marL="0" indent="0" algn="l">
              <a:buNone/>
              <a:defRPr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Section 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0568666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- sky blue">
    <p:bg>
      <p:bgPr>
        <a:solidFill>
          <a:srgbClr val="9999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0000" y="4689281"/>
            <a:ext cx="11232000" cy="728721"/>
          </a:xfrm>
        </p:spPr>
        <p:txBody>
          <a:bodyPr>
            <a:normAutofit/>
          </a:bodyPr>
          <a:lstStyle>
            <a:lvl1pPr>
              <a:defRPr sz="45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0000" y="5598000"/>
            <a:ext cx="11232000" cy="891700"/>
          </a:xfrm>
        </p:spPr>
        <p:txBody>
          <a:bodyPr/>
          <a:lstStyle>
            <a:lvl1pPr marL="0" indent="0" algn="l">
              <a:buNone/>
              <a:defRPr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Section 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3420538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ED64C56-7BE9-5D41-824D-0319FFA616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9623" y="3420000"/>
            <a:ext cx="11231999" cy="2520000"/>
          </a:xfrm>
        </p:spPr>
        <p:txBody>
          <a:bodyPr>
            <a:no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b="1" dirty="0">
                <a:solidFill>
                  <a:schemeClr val="bg1"/>
                </a:solidFill>
              </a:rPr>
              <a:t>Contact details/for more information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Contact details 1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Contact details 2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Contact details 3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+44 (0)20 7848 XXXX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 err="1">
                <a:solidFill>
                  <a:schemeClr val="bg1"/>
                </a:solidFill>
              </a:rPr>
              <a:t>xxxx@kcl.ac.uk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 err="1">
                <a:solidFill>
                  <a:schemeClr val="bg1"/>
                </a:solidFill>
              </a:rPr>
              <a:t>www.kcl.ac.uk</a:t>
            </a:r>
            <a:r>
              <a:rPr lang="en-GB" dirty="0">
                <a:solidFill>
                  <a:schemeClr val="bg1"/>
                </a:solidFill>
              </a:rPr>
              <a:t>/</a:t>
            </a:r>
            <a:r>
              <a:rPr lang="en-GB" dirty="0" err="1">
                <a:solidFill>
                  <a:schemeClr val="bg1"/>
                </a:solidFill>
              </a:rPr>
              <a:t>xxxx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9623" y="2184934"/>
            <a:ext cx="7662972" cy="1053665"/>
          </a:xfrm>
        </p:spPr>
        <p:txBody>
          <a:bodyPr anchor="b" anchorCtr="0">
            <a:normAutofit/>
          </a:bodyPr>
          <a:lstStyle>
            <a:lvl1pPr>
              <a:defRPr sz="450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Thank you</a:t>
            </a:r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 userDrawn="1"/>
        </p:nvGrpSpPr>
        <p:grpSpPr>
          <a:xfrm>
            <a:off x="10489316" y="1"/>
            <a:ext cx="1702684" cy="1303021"/>
            <a:chOff x="7949775" y="1"/>
            <a:chExt cx="1194225" cy="910000"/>
          </a:xfrm>
        </p:grpSpPr>
        <p:sp>
          <p:nvSpPr>
            <p:cNvPr id="8" name="Rectangle 7"/>
            <p:cNvSpPr/>
            <p:nvPr userDrawn="1"/>
          </p:nvSpPr>
          <p:spPr>
            <a:xfrm>
              <a:off x="7949775" y="1"/>
              <a:ext cx="1194225" cy="910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2"/>
            </a:p>
          </p:txBody>
        </p:sp>
        <p:pic>
          <p:nvPicPr>
            <p:cNvPr id="9" name="KCL-LOGO-UK-1.png"/>
            <p:cNvPicPr>
              <a:picLocks noChangeAspect="1"/>
            </p:cNvPicPr>
            <p:nvPr userDrawn="1"/>
          </p:nvPicPr>
          <p:blipFill>
            <a:blip r:embed="rId2" r:link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949775" y="258"/>
              <a:ext cx="1194225" cy="909486"/>
            </a:xfrm>
            <a:prstGeom prst="rect">
              <a:avLst/>
            </a:prstGeom>
          </p:spPr>
        </p:pic>
      </p:grp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62F5BC61-7D93-C442-AAE8-F327F7EC18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89623" y="6121401"/>
            <a:ext cx="11231999" cy="380749"/>
          </a:xfrm>
        </p:spPr>
        <p:txBody>
          <a:bodyPr wrap="square">
            <a:noAutofit/>
          </a:bodyPr>
          <a:lstStyle>
            <a:lvl1pPr marL="0" marR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2D50"/>
              </a:buClr>
              <a:buSzTx/>
              <a:buFont typeface="Arial"/>
              <a:buNone/>
              <a:tabLst/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2D50"/>
              </a:buClr>
              <a:buSzTx/>
              <a:buFont typeface="Arial"/>
              <a:buNone/>
              <a:tabLst/>
              <a:defRPr/>
            </a:pPr>
            <a:r>
              <a:rPr lang="en-US" sz="1600" dirty="0">
                <a:latin typeface="Georgia" panose="02040502050405020303" pitchFamily="18" charset="0"/>
              </a:rPr>
              <a:t>© 2020 King’s College London. All rights reserved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0530559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7ADCF-D0CA-CF64-6261-89761AB8B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0F135D-430E-68AE-E9B7-83B967273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054624-0223-5041-BD13-AE5BA7BAECFD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00FF8E-28AD-36BA-1434-5FCA3339E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4F0BC5-D5F4-0112-6A5D-BAE9B9D18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89CA2-208D-294A-A693-692BB187476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259823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Section Header">
  <p:cSld name="7_Section 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838200" y="2488688"/>
            <a:ext cx="9403080" cy="11334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3E72"/>
              </a:buClr>
              <a:buSzPts val="4800"/>
              <a:buFont typeface="Arial"/>
              <a:buNone/>
              <a:defRPr sz="4800">
                <a:solidFill>
                  <a:srgbClr val="193E7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6" name="Google Shape;36;p11"/>
          <p:cNvPicPr preferRelativeResize="0"/>
          <p:nvPr/>
        </p:nvPicPr>
        <p:blipFill rotWithShape="1">
          <a:blip r:embed="rId3">
            <a:alphaModFix/>
          </a:blip>
          <a:srcRect l="34054" b="22345"/>
          <a:stretch/>
        </p:blipFill>
        <p:spPr>
          <a:xfrm>
            <a:off x="0" y="4812138"/>
            <a:ext cx="1737360" cy="20458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7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10129459" y="1714918"/>
            <a:ext cx="1579205" cy="11844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11"/>
          <p:cNvPicPr preferRelativeResize="0"/>
          <p:nvPr/>
        </p:nvPicPr>
        <p:blipFill rotWithShape="1">
          <a:blip r:embed="rId5">
            <a:alphaModFix/>
          </a:blip>
          <a:srcRect t="3" r="6600" b="-36685"/>
          <a:stretch/>
        </p:blipFill>
        <p:spPr>
          <a:xfrm>
            <a:off x="436034" y="1131569"/>
            <a:ext cx="11387159" cy="4571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26700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0000" y="1089220"/>
            <a:ext cx="11232000" cy="531158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24916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54" r:id="rId2"/>
    <p:sldLayoutId id="2147483758" r:id="rId3"/>
    <p:sldLayoutId id="2147483755" r:id="rId4"/>
    <p:sldLayoutId id="2147483762" r:id="rId5"/>
    <p:sldLayoutId id="2147483759" r:id="rId6"/>
    <p:sldLayoutId id="2147483756" r:id="rId7"/>
    <p:sldLayoutId id="2147483760" r:id="rId8"/>
    <p:sldLayoutId id="2147483757" r:id="rId9"/>
    <p:sldLayoutId id="2147483761" r:id="rId10"/>
    <p:sldLayoutId id="2147483734" r:id="rId11"/>
    <p:sldLayoutId id="2147483725" r:id="rId12"/>
    <p:sldLayoutId id="2147483753" r:id="rId13"/>
    <p:sldLayoutId id="2147483732" r:id="rId14"/>
    <p:sldLayoutId id="2147483733" r:id="rId15"/>
    <p:sldLayoutId id="2147483751" r:id="rId16"/>
    <p:sldLayoutId id="2147483752" r:id="rId17"/>
    <p:sldLayoutId id="2147483750" r:id="rId18"/>
    <p:sldLayoutId id="2147483729" r:id="rId19"/>
    <p:sldLayoutId id="2147483728" r:id="rId20"/>
    <p:sldLayoutId id="2147483667" r:id="rId21"/>
    <p:sldLayoutId id="2147483668" r:id="rId22"/>
    <p:sldLayoutId id="2147483669" r:id="rId23"/>
    <p:sldLayoutId id="2147483670" r:id="rId24"/>
    <p:sldLayoutId id="2147483745" r:id="rId25"/>
    <p:sldLayoutId id="2147483771" r:id="rId26"/>
    <p:sldLayoutId id="2147483772" r:id="rId27"/>
  </p:sldLayoutIdLst>
  <p:transition>
    <p:fade/>
  </p:transition>
  <p:txStyles>
    <p:titleStyle>
      <a:lvl1pPr algn="l" defTabSz="457200" rtl="0" eaLnBrk="1" latinLnBrk="0" hangingPunct="1">
        <a:spcBef>
          <a:spcPct val="0"/>
        </a:spcBef>
        <a:buNone/>
        <a:defRPr sz="3200" b="1" kern="1200">
          <a:solidFill>
            <a:srgbClr val="0A2D50"/>
          </a:solidFill>
          <a:latin typeface="+mj-lt"/>
          <a:ea typeface="+mj-ea"/>
          <a:cs typeface="Impact"/>
        </a:defRPr>
      </a:lvl1pPr>
    </p:titleStyle>
    <p:bodyStyle>
      <a:lvl1pPr marL="269875" indent="-269875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1pPr>
      <a:lvl2pPr marL="539750" indent="-269875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2pPr>
      <a:lvl3pPr marL="809625" indent="-269875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3pPr>
      <a:lvl4pPr marL="1079500" indent="-269875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4pPr>
      <a:lvl5pPr marL="1341438" indent="-261938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2A51FB4-4CE5-F14B-23FF-03C28457B7FA}"/>
              </a:ext>
            </a:extLst>
          </p:cNvPr>
          <p:cNvSpPr/>
          <p:nvPr/>
        </p:nvSpPr>
        <p:spPr>
          <a:xfrm>
            <a:off x="0" y="5560226"/>
            <a:ext cx="4143737" cy="129777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BF4094-AE10-0346-AAE0-F05B430E5F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0718" y="302678"/>
            <a:ext cx="3833019" cy="2953816"/>
          </a:xfrm>
        </p:spPr>
        <p:txBody>
          <a:bodyPr>
            <a:normAutofit/>
          </a:bodyPr>
          <a:lstStyle/>
          <a:p>
            <a:r>
              <a:rPr lang="en-US" sz="2800" dirty="0"/>
              <a:t>A simple document model: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Bag-of-Words</a:t>
            </a:r>
            <a:br>
              <a:rPr lang="en-US" sz="2800" dirty="0"/>
            </a:br>
            <a:br>
              <a:rPr lang="en-US" sz="2800" dirty="0"/>
            </a:br>
            <a:endParaRPr lang="en-US" sz="2800" b="1" i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4F7407-FC44-F2C2-F2F9-4B8B7FE1F5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719" y="5835322"/>
            <a:ext cx="305084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48862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CE33E59-A823-E6F0-1E2A-7FA46208F1ED}"/>
              </a:ext>
            </a:extLst>
          </p:cNvPr>
          <p:cNvSpPr txBox="1"/>
          <p:nvPr/>
        </p:nvSpPr>
        <p:spPr>
          <a:xfrm>
            <a:off x="7659602" y="5675187"/>
            <a:ext cx="4240263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dk1">
                <a:shade val="95000"/>
                <a:satMod val="10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/[0-9]+ *[Mm].?[Gg].?/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ECEAD9C-6939-9FE3-849F-05DF389691CB}"/>
              </a:ext>
            </a:extLst>
          </p:cNvPr>
          <p:cNvGrpSpPr/>
          <p:nvPr/>
        </p:nvGrpSpPr>
        <p:grpSpPr>
          <a:xfrm>
            <a:off x="8909434" y="3315266"/>
            <a:ext cx="1714500" cy="1272230"/>
            <a:chOff x="2654300" y="2971781"/>
            <a:chExt cx="2387600" cy="190502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1E48FB8-5907-1C63-5D20-8D3A1A9C7084}"/>
                </a:ext>
              </a:extLst>
            </p:cNvPr>
            <p:cNvSpPr/>
            <p:nvPr/>
          </p:nvSpPr>
          <p:spPr>
            <a:xfrm>
              <a:off x="2654300" y="3429000"/>
              <a:ext cx="495300" cy="4953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l"/>
              <a:endParaRPr lang="en-US" sz="1400" b="1" dirty="0">
                <a:solidFill>
                  <a:schemeClr val="tx1"/>
                </a:solidFill>
                <a:cs typeface="Georgia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A3CEDD2-6F64-3D2F-2E3B-7459F0F1FA45}"/>
                </a:ext>
              </a:extLst>
            </p:cNvPr>
            <p:cNvSpPr/>
            <p:nvPr/>
          </p:nvSpPr>
          <p:spPr>
            <a:xfrm>
              <a:off x="4546600" y="3429000"/>
              <a:ext cx="495300" cy="4953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l"/>
              <a:endParaRPr lang="en-US" sz="1400" b="1" dirty="0">
                <a:solidFill>
                  <a:schemeClr val="tx1"/>
                </a:solidFill>
                <a:cs typeface="Georgia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A8DF0B5-D97C-FA30-6F96-08DDB1132253}"/>
                </a:ext>
              </a:extLst>
            </p:cNvPr>
            <p:cNvSpPr/>
            <p:nvPr/>
          </p:nvSpPr>
          <p:spPr>
            <a:xfrm>
              <a:off x="3600450" y="4381501"/>
              <a:ext cx="495300" cy="4953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l"/>
              <a:endParaRPr lang="en-US" sz="1400" b="1" dirty="0">
                <a:solidFill>
                  <a:schemeClr val="tx1"/>
                </a:solidFill>
                <a:cs typeface="Georgia"/>
              </a:endParaRPr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F760D10-0D28-AD46-ECA1-22FD7EEA0920}"/>
                </a:ext>
              </a:extLst>
            </p:cNvPr>
            <p:cNvSpPr/>
            <p:nvPr/>
          </p:nvSpPr>
          <p:spPr>
            <a:xfrm>
              <a:off x="3149600" y="3174869"/>
              <a:ext cx="1384300" cy="482731"/>
            </a:xfrm>
            <a:custGeom>
              <a:avLst/>
              <a:gdLst>
                <a:gd name="connsiteX0" fmla="*/ 0 w 1384300"/>
                <a:gd name="connsiteY0" fmla="*/ 482731 h 482731"/>
                <a:gd name="connsiteX1" fmla="*/ 596900 w 1384300"/>
                <a:gd name="connsiteY1" fmla="*/ 131 h 482731"/>
                <a:gd name="connsiteX2" fmla="*/ 1384300 w 1384300"/>
                <a:gd name="connsiteY2" fmla="*/ 444631 h 482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84300" h="482731">
                  <a:moveTo>
                    <a:pt x="0" y="482731"/>
                  </a:moveTo>
                  <a:cubicBezTo>
                    <a:pt x="183091" y="244606"/>
                    <a:pt x="366183" y="6481"/>
                    <a:pt x="596900" y="131"/>
                  </a:cubicBezTo>
                  <a:cubicBezTo>
                    <a:pt x="827617" y="-6219"/>
                    <a:pt x="1105958" y="219206"/>
                    <a:pt x="1384300" y="444631"/>
                  </a:cubicBezTo>
                </a:path>
              </a:pathLst>
            </a:custGeom>
            <a:noFill/>
            <a:ln>
              <a:solidFill>
                <a:schemeClr val="tx1"/>
              </a:solidFill>
              <a:tailEnd type="triangle" w="lg" len="lg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7248C1C2-D298-D81F-1BC0-1F549C00FE67}"/>
                </a:ext>
              </a:extLst>
            </p:cNvPr>
            <p:cNvSpPr/>
            <p:nvPr/>
          </p:nvSpPr>
          <p:spPr>
            <a:xfrm>
              <a:off x="3175000" y="3695700"/>
              <a:ext cx="1358900" cy="393735"/>
            </a:xfrm>
            <a:custGeom>
              <a:avLst/>
              <a:gdLst>
                <a:gd name="connsiteX0" fmla="*/ 1358900 w 1358900"/>
                <a:gd name="connsiteY0" fmla="*/ 0 h 393735"/>
                <a:gd name="connsiteX1" fmla="*/ 762000 w 1358900"/>
                <a:gd name="connsiteY1" fmla="*/ 393700 h 393735"/>
                <a:gd name="connsiteX2" fmla="*/ 0 w 1358900"/>
                <a:gd name="connsiteY2" fmla="*/ 25400 h 393735"/>
                <a:gd name="connsiteX3" fmla="*/ 0 w 1358900"/>
                <a:gd name="connsiteY3" fmla="*/ 25400 h 393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58900" h="393735">
                  <a:moveTo>
                    <a:pt x="1358900" y="0"/>
                  </a:moveTo>
                  <a:cubicBezTo>
                    <a:pt x="1173691" y="194733"/>
                    <a:pt x="988483" y="389467"/>
                    <a:pt x="762000" y="393700"/>
                  </a:cubicBezTo>
                  <a:cubicBezTo>
                    <a:pt x="535517" y="397933"/>
                    <a:pt x="0" y="25400"/>
                    <a:pt x="0" y="25400"/>
                  </a:cubicBezTo>
                  <a:lnTo>
                    <a:pt x="0" y="25400"/>
                  </a:lnTo>
                </a:path>
              </a:pathLst>
            </a:custGeom>
            <a:noFill/>
            <a:ln>
              <a:solidFill>
                <a:schemeClr val="tx1"/>
              </a:solidFill>
              <a:tailEnd type="triangle" w="lg" len="lg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7580EAD0-939A-A30F-F202-291117E23A5F}"/>
                </a:ext>
              </a:extLst>
            </p:cNvPr>
            <p:cNvSpPr/>
            <p:nvPr/>
          </p:nvSpPr>
          <p:spPr>
            <a:xfrm>
              <a:off x="2678885" y="2971781"/>
              <a:ext cx="648672" cy="469919"/>
            </a:xfrm>
            <a:custGeom>
              <a:avLst/>
              <a:gdLst>
                <a:gd name="connsiteX0" fmla="*/ 280215 w 648672"/>
                <a:gd name="connsiteY0" fmla="*/ 469919 h 469919"/>
                <a:gd name="connsiteX1" fmla="*/ 648515 w 648672"/>
                <a:gd name="connsiteY1" fmla="*/ 254019 h 469919"/>
                <a:gd name="connsiteX2" fmla="*/ 242115 w 648672"/>
                <a:gd name="connsiteY2" fmla="*/ 19 h 469919"/>
                <a:gd name="connsiteX3" fmla="*/ 815 w 648672"/>
                <a:gd name="connsiteY3" fmla="*/ 241319 h 469919"/>
                <a:gd name="connsiteX4" fmla="*/ 178615 w 648672"/>
                <a:gd name="connsiteY4" fmla="*/ 444519 h 469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8672" h="469919">
                  <a:moveTo>
                    <a:pt x="280215" y="469919"/>
                  </a:moveTo>
                  <a:cubicBezTo>
                    <a:pt x="467540" y="401127"/>
                    <a:pt x="654865" y="332336"/>
                    <a:pt x="648515" y="254019"/>
                  </a:cubicBezTo>
                  <a:cubicBezTo>
                    <a:pt x="642165" y="175702"/>
                    <a:pt x="350065" y="2136"/>
                    <a:pt x="242115" y="19"/>
                  </a:cubicBezTo>
                  <a:cubicBezTo>
                    <a:pt x="134165" y="-2098"/>
                    <a:pt x="11398" y="167236"/>
                    <a:pt x="815" y="241319"/>
                  </a:cubicBezTo>
                  <a:cubicBezTo>
                    <a:pt x="-9768" y="315402"/>
                    <a:pt x="84423" y="379960"/>
                    <a:pt x="178615" y="444519"/>
                  </a:cubicBezTo>
                </a:path>
              </a:pathLst>
            </a:cu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F4E44A3A-2524-B3C8-5D9B-4D24748AB847}"/>
                </a:ext>
              </a:extLst>
            </p:cNvPr>
            <p:cNvSpPr/>
            <p:nvPr/>
          </p:nvSpPr>
          <p:spPr>
            <a:xfrm>
              <a:off x="4114800" y="3924300"/>
              <a:ext cx="702274" cy="723900"/>
            </a:xfrm>
            <a:custGeom>
              <a:avLst/>
              <a:gdLst>
                <a:gd name="connsiteX0" fmla="*/ 622300 w 702274"/>
                <a:gd name="connsiteY0" fmla="*/ 0 h 723900"/>
                <a:gd name="connsiteX1" fmla="*/ 647700 w 702274"/>
                <a:gd name="connsiteY1" fmla="*/ 444500 h 723900"/>
                <a:gd name="connsiteX2" fmla="*/ 0 w 702274"/>
                <a:gd name="connsiteY2" fmla="*/ 723900 h 723900"/>
                <a:gd name="connsiteX3" fmla="*/ 0 w 702274"/>
                <a:gd name="connsiteY3" fmla="*/ 723900 h 723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2274" h="723900">
                  <a:moveTo>
                    <a:pt x="622300" y="0"/>
                  </a:moveTo>
                  <a:cubicBezTo>
                    <a:pt x="686858" y="161925"/>
                    <a:pt x="751417" y="323850"/>
                    <a:pt x="647700" y="444500"/>
                  </a:cubicBezTo>
                  <a:cubicBezTo>
                    <a:pt x="543983" y="565150"/>
                    <a:pt x="0" y="723900"/>
                    <a:pt x="0" y="723900"/>
                  </a:cubicBezTo>
                  <a:lnTo>
                    <a:pt x="0" y="723900"/>
                  </a:lnTo>
                </a:path>
              </a:pathLst>
            </a:cu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CF878DF7-B3AF-70C0-12EB-B6872F6ECA52}"/>
                </a:ext>
              </a:extLst>
            </p:cNvPr>
            <p:cNvSpPr/>
            <p:nvPr/>
          </p:nvSpPr>
          <p:spPr>
            <a:xfrm>
              <a:off x="2870200" y="3962400"/>
              <a:ext cx="736600" cy="685800"/>
            </a:xfrm>
            <a:custGeom>
              <a:avLst/>
              <a:gdLst>
                <a:gd name="connsiteX0" fmla="*/ 736600 w 736600"/>
                <a:gd name="connsiteY0" fmla="*/ 685800 h 685800"/>
                <a:gd name="connsiteX1" fmla="*/ 203200 w 736600"/>
                <a:gd name="connsiteY1" fmla="*/ 571500 h 685800"/>
                <a:gd name="connsiteX2" fmla="*/ 0 w 736600"/>
                <a:gd name="connsiteY2" fmla="*/ 0 h 685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36600" h="685800">
                  <a:moveTo>
                    <a:pt x="736600" y="685800"/>
                  </a:moveTo>
                  <a:cubicBezTo>
                    <a:pt x="531283" y="685800"/>
                    <a:pt x="325967" y="685800"/>
                    <a:pt x="203200" y="571500"/>
                  </a:cubicBezTo>
                  <a:cubicBezTo>
                    <a:pt x="80433" y="457200"/>
                    <a:pt x="40216" y="228600"/>
                    <a:pt x="0" y="0"/>
                  </a:cubicBezTo>
                </a:path>
              </a:pathLst>
            </a:cu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2D1B2398-3745-892B-8935-5158465F8168}"/>
              </a:ext>
            </a:extLst>
          </p:cNvPr>
          <p:cNvSpPr txBox="1"/>
          <p:nvPr/>
        </p:nvSpPr>
        <p:spPr>
          <a:xfrm>
            <a:off x="1285091" y="1815684"/>
            <a:ext cx="9586279" cy="461665"/>
          </a:xfrm>
          <a:prstGeom prst="rect">
            <a:avLst/>
          </a:prstGeom>
          <a:solidFill>
            <a:schemeClr val="bg1"/>
          </a:solidFill>
          <a:ln>
            <a:solidFill>
              <a:schemeClr val="dk1">
                <a:shade val="95000"/>
                <a:satMod val="105000"/>
              </a:schemeClr>
            </a:solidFill>
          </a:ln>
        </p:spPr>
        <p:txBody>
          <a:bodyPr wrap="none" rtlCol="0">
            <a:spAutoFit/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...amlodipine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5 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m.g.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once daily increased to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10MG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</p:txBody>
      </p:sp>
      <p:sp>
        <p:nvSpPr>
          <p:cNvPr id="33" name="Left Arrow 32">
            <a:extLst>
              <a:ext uri="{FF2B5EF4-FFF2-40B4-BE49-F238E27FC236}">
                <a16:creationId xmlns:a16="http://schemas.microsoft.com/office/drawing/2014/main" id="{5AA18506-37F1-E9C2-F4CD-2C166E043299}"/>
              </a:ext>
            </a:extLst>
          </p:cNvPr>
          <p:cNvSpPr/>
          <p:nvPr/>
        </p:nvSpPr>
        <p:spPr>
          <a:xfrm rot="10800000">
            <a:off x="428622" y="1700086"/>
            <a:ext cx="728662" cy="714502"/>
          </a:xfrm>
          <a:prstGeom prst="leftArrow">
            <a:avLst/>
          </a:prstGeom>
          <a:solidFill>
            <a:schemeClr val="bg1"/>
          </a:solidFill>
          <a:ln>
            <a:solidFill>
              <a:schemeClr val="dk1">
                <a:shade val="95000"/>
                <a:satMod val="10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34" name="Left Arrow 33">
            <a:extLst>
              <a:ext uri="{FF2B5EF4-FFF2-40B4-BE49-F238E27FC236}">
                <a16:creationId xmlns:a16="http://schemas.microsoft.com/office/drawing/2014/main" id="{D17D4C22-1E1A-16CF-88D2-A877AFAC3622}"/>
              </a:ext>
            </a:extLst>
          </p:cNvPr>
          <p:cNvSpPr/>
          <p:nvPr/>
        </p:nvSpPr>
        <p:spPr>
          <a:xfrm rot="10800000">
            <a:off x="10967408" y="1697987"/>
            <a:ext cx="728662" cy="714502"/>
          </a:xfrm>
          <a:prstGeom prst="leftArrow">
            <a:avLst/>
          </a:prstGeom>
          <a:solidFill>
            <a:schemeClr val="bg1"/>
          </a:solidFill>
          <a:ln>
            <a:solidFill>
              <a:schemeClr val="dk1">
                <a:shade val="95000"/>
                <a:satMod val="10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30BEF83-7B37-F439-D59A-781057CA8EC8}"/>
              </a:ext>
            </a:extLst>
          </p:cNvPr>
          <p:cNvSpPr/>
          <p:nvPr/>
        </p:nvSpPr>
        <p:spPr>
          <a:xfrm>
            <a:off x="3857621" y="1808260"/>
            <a:ext cx="1157287" cy="469089"/>
          </a:xfrm>
          <a:prstGeom prst="rect">
            <a:avLst/>
          </a:prstGeom>
          <a:solidFill>
            <a:schemeClr val="accent1">
              <a:alpha val="41356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E6FF98B-DB7D-4C9B-E208-B2F3613BC407}"/>
              </a:ext>
            </a:extLst>
          </p:cNvPr>
          <p:cNvSpPr/>
          <p:nvPr/>
        </p:nvSpPr>
        <p:spPr>
          <a:xfrm>
            <a:off x="9568059" y="1802737"/>
            <a:ext cx="795916" cy="469089"/>
          </a:xfrm>
          <a:prstGeom prst="rect">
            <a:avLst/>
          </a:prstGeom>
          <a:solidFill>
            <a:schemeClr val="accent1">
              <a:alpha val="41356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38" name="Bent Arrow 37">
            <a:extLst>
              <a:ext uri="{FF2B5EF4-FFF2-40B4-BE49-F238E27FC236}">
                <a16:creationId xmlns:a16="http://schemas.microsoft.com/office/drawing/2014/main" id="{035FD532-D0E8-F403-A1A2-E512F3C8FF1B}"/>
              </a:ext>
            </a:extLst>
          </p:cNvPr>
          <p:cNvSpPr/>
          <p:nvPr/>
        </p:nvSpPr>
        <p:spPr>
          <a:xfrm>
            <a:off x="9549275" y="2344537"/>
            <a:ext cx="954289" cy="970729"/>
          </a:xfrm>
          <a:prstGeom prst="bentArrow">
            <a:avLst>
              <a:gd name="adj1" fmla="val 25000"/>
              <a:gd name="adj2" fmla="val 20631"/>
              <a:gd name="adj3" fmla="val 25000"/>
              <a:gd name="adj4" fmla="val 43750"/>
            </a:avLst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dk1">
                <a:shade val="95000"/>
                <a:satMod val="10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4DC1DDD-C1F3-732F-ED02-0333C58364EA}"/>
              </a:ext>
            </a:extLst>
          </p:cNvPr>
          <p:cNvSpPr txBox="1"/>
          <p:nvPr/>
        </p:nvSpPr>
        <p:spPr>
          <a:xfrm>
            <a:off x="428622" y="3247268"/>
            <a:ext cx="500303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Rationalist, armchair approach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Brittle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Not bad for simple regular patterns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Hard to scale</a:t>
            </a:r>
          </a:p>
        </p:txBody>
      </p:sp>
      <p:sp>
        <p:nvSpPr>
          <p:cNvPr id="40" name="Up Arrow 39">
            <a:extLst>
              <a:ext uri="{FF2B5EF4-FFF2-40B4-BE49-F238E27FC236}">
                <a16:creationId xmlns:a16="http://schemas.microsoft.com/office/drawing/2014/main" id="{25EF70A9-31FE-D1B3-C8FC-A557BAA27F6D}"/>
              </a:ext>
            </a:extLst>
          </p:cNvPr>
          <p:cNvSpPr/>
          <p:nvPr/>
        </p:nvSpPr>
        <p:spPr>
          <a:xfrm>
            <a:off x="9557112" y="4710752"/>
            <a:ext cx="428264" cy="70393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dk1">
                <a:shade val="95000"/>
                <a:satMod val="10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9841EC7B-E397-A28E-C69D-DF0ED9F1B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</p:spPr>
        <p:txBody>
          <a:bodyPr/>
          <a:lstStyle/>
          <a:p>
            <a:r>
              <a:rPr lang="en-US" dirty="0"/>
              <a:t>Rationalism: pattern matching</a:t>
            </a:r>
          </a:p>
        </p:txBody>
      </p:sp>
    </p:spTree>
    <p:extLst>
      <p:ext uri="{BB962C8B-B14F-4D97-AF65-F5344CB8AC3E}">
        <p14:creationId xmlns:p14="http://schemas.microsoft.com/office/powerpoint/2010/main" val="336842314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734D4-7E58-974D-129D-6095491D4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rise of empiricism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C66E09-1393-A928-55B7-A81A735D6C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078" y="994136"/>
            <a:ext cx="9034390" cy="50979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2F84B5-0015-BD07-3F2F-9292815B4C23}"/>
              </a:ext>
            </a:extLst>
          </p:cNvPr>
          <p:cNvSpPr txBox="1"/>
          <p:nvPr/>
        </p:nvSpPr>
        <p:spPr>
          <a:xfrm>
            <a:off x="2025570" y="6354834"/>
            <a:ext cx="42107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effectLst/>
                <a:latin typeface="Calibri" panose="020F0502020204030204" pitchFamily="34" charset="0"/>
              </a:rPr>
              <a:t>Church K., </a:t>
            </a:r>
            <a:r>
              <a:rPr lang="en-GB" dirty="0" err="1">
                <a:effectLst/>
                <a:latin typeface="Calibri" panose="020F0502020204030204" pitchFamily="34" charset="0"/>
              </a:rPr>
              <a:t>LiLT</a:t>
            </a:r>
            <a:r>
              <a:rPr lang="en-GB" dirty="0">
                <a:effectLst/>
                <a:latin typeface="Calibri" panose="020F0502020204030204" pitchFamily="34" charset="0"/>
              </a:rPr>
              <a:t> Volume 2, Issue 4 May 2007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287011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agofwords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72556"/>
          <a:stretch/>
        </p:blipFill>
        <p:spPr>
          <a:xfrm>
            <a:off x="406400" y="622604"/>
            <a:ext cx="2969409" cy="6118287"/>
          </a:xfrm>
          <a:prstGeom prst="rect">
            <a:avLst/>
          </a:prstGeom>
        </p:spPr>
      </p:pic>
      <p:pic>
        <p:nvPicPr>
          <p:cNvPr id="6" name="Picture 5" descr="bagofwords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368" r="-2024"/>
          <a:stretch/>
        </p:blipFill>
        <p:spPr>
          <a:xfrm>
            <a:off x="8607822" y="1070362"/>
            <a:ext cx="2616440" cy="4736017"/>
          </a:xfrm>
          <a:prstGeom prst="rect">
            <a:avLst/>
          </a:prstGeom>
        </p:spPr>
      </p:pic>
      <p:pic>
        <p:nvPicPr>
          <p:cNvPr id="7" name="Picture 6" descr="bagofwords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8" r="27127"/>
          <a:stretch/>
        </p:blipFill>
        <p:spPr>
          <a:xfrm>
            <a:off x="3870297" y="1070848"/>
            <a:ext cx="3830911" cy="473601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ADFF6B6-56E6-5A11-1601-965F2B5FB71E}"/>
              </a:ext>
            </a:extLst>
          </p:cNvPr>
          <p:cNvSpPr txBox="1"/>
          <p:nvPr/>
        </p:nvSpPr>
        <p:spPr>
          <a:xfrm>
            <a:off x="429675" y="6334780"/>
            <a:ext cx="43658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(Credit: </a:t>
            </a:r>
            <a:r>
              <a:rPr lang="en-US" dirty="0" err="1"/>
              <a:t>Jurafsky</a:t>
            </a:r>
            <a:r>
              <a:rPr lang="en-US" dirty="0"/>
              <a:t> and Martin, draft 3</a:t>
            </a:r>
            <a:r>
              <a:rPr lang="en-US" baseline="30000" dirty="0"/>
              <a:t>rd</a:t>
            </a:r>
            <a:r>
              <a:rPr lang="en-US" dirty="0"/>
              <a:t> edition</a:t>
            </a:r>
          </a:p>
          <a:p>
            <a:r>
              <a:rPr lang="en-US" dirty="0"/>
              <a:t>https://</a:t>
            </a:r>
            <a:r>
              <a:rPr lang="en-US" dirty="0" err="1"/>
              <a:t>web.stanford.edu</a:t>
            </a:r>
            <a:r>
              <a:rPr lang="en-US" dirty="0"/>
              <a:t>/~</a:t>
            </a:r>
            <a:r>
              <a:rPr lang="en-US" dirty="0" err="1"/>
              <a:t>jurafsky</a:t>
            </a:r>
            <a:r>
              <a:rPr lang="en-US" dirty="0"/>
              <a:t>/slp3/)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7FF205E-5C72-51D8-B7B0-0833D0DE3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Representation documents: Bag of Words </a:t>
            </a:r>
          </a:p>
        </p:txBody>
      </p:sp>
    </p:spTree>
    <p:extLst>
      <p:ext uri="{BB962C8B-B14F-4D97-AF65-F5344CB8AC3E}">
        <p14:creationId xmlns:p14="http://schemas.microsoft.com/office/powerpoint/2010/main" val="413059590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Line 4"/>
          <p:cNvSpPr/>
          <p:nvPr/>
        </p:nvSpPr>
        <p:spPr>
          <a:xfrm>
            <a:off x="7860000" y="3744000"/>
            <a:ext cx="2304000" cy="0"/>
          </a:xfrm>
          <a:prstGeom prst="line">
            <a:avLst/>
          </a:prstGeom>
          <a:ln w="0">
            <a:solidFill>
              <a:srgbClr val="000000"/>
            </a:solidFill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0" name="Line 5"/>
          <p:cNvSpPr/>
          <p:nvPr/>
        </p:nvSpPr>
        <p:spPr>
          <a:xfrm flipV="1">
            <a:off x="7860000" y="1442880"/>
            <a:ext cx="0" cy="2301120"/>
          </a:xfrm>
          <a:prstGeom prst="line">
            <a:avLst/>
          </a:prstGeom>
          <a:ln w="0">
            <a:solidFill>
              <a:srgbClr val="000000"/>
            </a:solidFill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1" name="Line 6"/>
          <p:cNvSpPr/>
          <p:nvPr/>
        </p:nvSpPr>
        <p:spPr>
          <a:xfrm flipH="1">
            <a:off x="6132000" y="3744000"/>
            <a:ext cx="1728000" cy="1728000"/>
          </a:xfrm>
          <a:prstGeom prst="line">
            <a:avLst/>
          </a:prstGeom>
          <a:ln w="0">
            <a:solidFill>
              <a:srgbClr val="000000"/>
            </a:solidFill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2" name="CustomShape 7"/>
          <p:cNvSpPr/>
          <p:nvPr/>
        </p:nvSpPr>
        <p:spPr>
          <a:xfrm>
            <a:off x="6349080" y="493308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5" name="Line 10"/>
          <p:cNvSpPr/>
          <p:nvPr/>
        </p:nvSpPr>
        <p:spPr>
          <a:xfrm>
            <a:off x="7320000" y="4320000"/>
            <a:ext cx="1080000" cy="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6" name="Line 11"/>
          <p:cNvSpPr/>
          <p:nvPr/>
        </p:nvSpPr>
        <p:spPr>
          <a:xfrm flipV="1">
            <a:off x="8616000" y="3744000"/>
            <a:ext cx="468000" cy="50400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7" name="CustomShape 12"/>
          <p:cNvSpPr/>
          <p:nvPr/>
        </p:nvSpPr>
        <p:spPr>
          <a:xfrm>
            <a:off x="8328000" y="417600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8" name="CustomShape 13"/>
          <p:cNvSpPr/>
          <p:nvPr/>
        </p:nvSpPr>
        <p:spPr>
          <a:xfrm>
            <a:off x="7104720" y="414072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50" name="TextShape 15"/>
          <p:cNvSpPr txBox="1"/>
          <p:nvPr/>
        </p:nvSpPr>
        <p:spPr>
          <a:xfrm>
            <a:off x="7068000" y="1332000"/>
            <a:ext cx="81468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loved</a:t>
            </a:r>
            <a:endParaRPr lang="en-GB" sz="1400" spc="-1" dirty="0">
              <a:latin typeface="Arial"/>
            </a:endParaRPr>
          </a:p>
        </p:txBody>
      </p:sp>
      <p:sp>
        <p:nvSpPr>
          <p:cNvPr id="751" name="TextShape 16"/>
          <p:cNvSpPr txBox="1"/>
          <p:nvPr/>
        </p:nvSpPr>
        <p:spPr>
          <a:xfrm>
            <a:off x="9732360" y="3744000"/>
            <a:ext cx="95328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amazing</a:t>
            </a:r>
            <a:endParaRPr lang="en-GB" sz="1400" spc="-1" dirty="0">
              <a:latin typeface="Arial"/>
            </a:endParaRPr>
          </a:p>
        </p:txBody>
      </p:sp>
      <p:sp>
        <p:nvSpPr>
          <p:cNvPr id="752" name="TextShape 17"/>
          <p:cNvSpPr txBox="1"/>
          <p:nvPr/>
        </p:nvSpPr>
        <p:spPr>
          <a:xfrm>
            <a:off x="5394360" y="5292000"/>
            <a:ext cx="81612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hated</a:t>
            </a:r>
            <a:endParaRPr lang="en-GB" sz="1400" spc="-1" dirty="0">
              <a:latin typeface="Arial"/>
            </a:endParaRPr>
          </a:p>
        </p:txBody>
      </p:sp>
      <p:sp>
        <p:nvSpPr>
          <p:cNvPr id="757" name="TextShape 22"/>
          <p:cNvSpPr txBox="1"/>
          <p:nvPr/>
        </p:nvSpPr>
        <p:spPr>
          <a:xfrm>
            <a:off x="8696640" y="4284000"/>
            <a:ext cx="136176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amazing how much I hated this</a:t>
            </a:r>
          </a:p>
        </p:txBody>
      </p:sp>
      <p:sp>
        <p:nvSpPr>
          <p:cNvPr id="758" name="TextShape 23"/>
          <p:cNvSpPr txBox="1"/>
          <p:nvPr/>
        </p:nvSpPr>
        <p:spPr>
          <a:xfrm>
            <a:off x="7111402" y="4477680"/>
            <a:ext cx="95328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hated this movie</a:t>
            </a:r>
          </a:p>
        </p:txBody>
      </p:sp>
      <p:sp>
        <p:nvSpPr>
          <p:cNvPr id="759" name="TextShape 24"/>
          <p:cNvSpPr txBox="1"/>
          <p:nvPr/>
        </p:nvSpPr>
        <p:spPr>
          <a:xfrm>
            <a:off x="9265296" y="2348460"/>
            <a:ext cx="1159474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loved this amazing movie</a:t>
            </a:r>
          </a:p>
        </p:txBody>
      </p:sp>
      <p:sp>
        <p:nvSpPr>
          <p:cNvPr id="760" name="TextShape 25"/>
          <p:cNvSpPr txBox="1"/>
          <p:nvPr/>
        </p:nvSpPr>
        <p:spPr>
          <a:xfrm>
            <a:off x="6348000" y="5234400"/>
            <a:ext cx="1314720" cy="68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hated the cast, hated the plot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7685AF-2291-C343-C3D2-56FD45080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Bag of words as a vector space</a:t>
            </a:r>
          </a:p>
        </p:txBody>
      </p:sp>
      <p:sp>
        <p:nvSpPr>
          <p:cNvPr id="4" name="CustomShape 12">
            <a:extLst>
              <a:ext uri="{FF2B5EF4-FFF2-40B4-BE49-F238E27FC236}">
                <a16:creationId xmlns:a16="http://schemas.microsoft.com/office/drawing/2014/main" id="{1103CED4-4841-356B-CDCF-D5407AEB52B2}"/>
              </a:ext>
            </a:extLst>
          </p:cNvPr>
          <p:cNvSpPr/>
          <p:nvPr/>
        </p:nvSpPr>
        <p:spPr>
          <a:xfrm>
            <a:off x="8896525" y="2402974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" name="Line 8">
            <a:extLst>
              <a:ext uri="{FF2B5EF4-FFF2-40B4-BE49-F238E27FC236}">
                <a16:creationId xmlns:a16="http://schemas.microsoft.com/office/drawing/2014/main" id="{E096D6F1-0FA1-DE1A-9112-E2E9DB10A35E}"/>
              </a:ext>
            </a:extLst>
          </p:cNvPr>
          <p:cNvSpPr/>
          <p:nvPr/>
        </p:nvSpPr>
        <p:spPr>
          <a:xfrm flipH="1" flipV="1">
            <a:off x="7872046" y="2575385"/>
            <a:ext cx="971013" cy="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" name="Line 9">
            <a:extLst>
              <a:ext uri="{FF2B5EF4-FFF2-40B4-BE49-F238E27FC236}">
                <a16:creationId xmlns:a16="http://schemas.microsoft.com/office/drawing/2014/main" id="{EB410880-BECC-2634-121A-3832A35850FC}"/>
              </a:ext>
            </a:extLst>
          </p:cNvPr>
          <p:cNvSpPr/>
          <p:nvPr/>
        </p:nvSpPr>
        <p:spPr>
          <a:xfrm flipV="1">
            <a:off x="9084000" y="2762974"/>
            <a:ext cx="0" cy="90072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" name="TextShape 24">
            <a:extLst>
              <a:ext uri="{FF2B5EF4-FFF2-40B4-BE49-F238E27FC236}">
                <a16:creationId xmlns:a16="http://schemas.microsoft.com/office/drawing/2014/main" id="{2FB01EA0-DDA7-19C6-4BF9-21FA8EC512CC}"/>
              </a:ext>
            </a:extLst>
          </p:cNvPr>
          <p:cNvSpPr txBox="1"/>
          <p:nvPr/>
        </p:nvSpPr>
        <p:spPr>
          <a:xfrm>
            <a:off x="7854900" y="2242110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8" name="TextShape 24">
            <a:extLst>
              <a:ext uri="{FF2B5EF4-FFF2-40B4-BE49-F238E27FC236}">
                <a16:creationId xmlns:a16="http://schemas.microsoft.com/office/drawing/2014/main" id="{8A5C7048-220D-05EA-06FC-9C0B3AB7E0A3}"/>
              </a:ext>
            </a:extLst>
          </p:cNvPr>
          <p:cNvSpPr txBox="1"/>
          <p:nvPr/>
        </p:nvSpPr>
        <p:spPr>
          <a:xfrm>
            <a:off x="7441400" y="4002791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9" name="TextShape 24">
            <a:extLst>
              <a:ext uri="{FF2B5EF4-FFF2-40B4-BE49-F238E27FC236}">
                <a16:creationId xmlns:a16="http://schemas.microsoft.com/office/drawing/2014/main" id="{CDEC86B6-5216-6F63-E654-002CDD775C5E}"/>
              </a:ext>
            </a:extLst>
          </p:cNvPr>
          <p:cNvSpPr txBox="1"/>
          <p:nvPr/>
        </p:nvSpPr>
        <p:spPr>
          <a:xfrm>
            <a:off x="9116290" y="3512404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749" name="CustomShape 14"/>
          <p:cNvSpPr/>
          <p:nvPr/>
        </p:nvSpPr>
        <p:spPr>
          <a:xfrm>
            <a:off x="7681297" y="245772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" name="TextShape 23">
            <a:extLst>
              <a:ext uri="{FF2B5EF4-FFF2-40B4-BE49-F238E27FC236}">
                <a16:creationId xmlns:a16="http://schemas.microsoft.com/office/drawing/2014/main" id="{1FE8B79E-55ED-F198-08A1-E73774798E2F}"/>
              </a:ext>
            </a:extLst>
          </p:cNvPr>
          <p:cNvSpPr txBox="1"/>
          <p:nvPr/>
        </p:nvSpPr>
        <p:spPr>
          <a:xfrm>
            <a:off x="6908017" y="2533170"/>
            <a:ext cx="95328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loved it!</a:t>
            </a:r>
          </a:p>
        </p:txBody>
      </p:sp>
      <p:sp>
        <p:nvSpPr>
          <p:cNvPr id="35" name="TextShape 2">
            <a:extLst>
              <a:ext uri="{FF2B5EF4-FFF2-40B4-BE49-F238E27FC236}">
                <a16:creationId xmlns:a16="http://schemas.microsoft.com/office/drawing/2014/main" id="{E247F901-A172-A717-1249-A9DD9A51DAE3}"/>
              </a:ext>
            </a:extLst>
          </p:cNvPr>
          <p:cNvSpPr txBox="1"/>
          <p:nvPr/>
        </p:nvSpPr>
        <p:spPr>
          <a:xfrm>
            <a:off x="394047" y="1783290"/>
            <a:ext cx="4337928" cy="1499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Here we have three dimensions in our model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Typically, we would have hundreds or thousands of dimensions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TextShape 2"/>
          <p:cNvSpPr txBox="1"/>
          <p:nvPr/>
        </p:nvSpPr>
        <p:spPr>
          <a:xfrm>
            <a:off x="394047" y="1783290"/>
            <a:ext cx="4337928" cy="1499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We can create a plane in the ”feature space” to separate out different classes of our examples</a:t>
            </a:r>
          </a:p>
          <a:p>
            <a:pPr marL="108000">
              <a:spcBef>
                <a:spcPts val="1417"/>
              </a:spcBef>
              <a:buClr>
                <a:srgbClr val="000000"/>
              </a:buClr>
              <a:buSzPct val="45000"/>
            </a:pPr>
            <a:endParaRPr lang="en-US" sz="2400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9" name="Line 4"/>
          <p:cNvSpPr/>
          <p:nvPr/>
        </p:nvSpPr>
        <p:spPr>
          <a:xfrm>
            <a:off x="7860000" y="3744000"/>
            <a:ext cx="2304000" cy="0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0" name="Line 5"/>
          <p:cNvSpPr/>
          <p:nvPr/>
        </p:nvSpPr>
        <p:spPr>
          <a:xfrm flipV="1">
            <a:off x="7859999" y="1558050"/>
            <a:ext cx="8747" cy="2185949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1" name="Line 6"/>
          <p:cNvSpPr/>
          <p:nvPr/>
        </p:nvSpPr>
        <p:spPr>
          <a:xfrm flipH="1">
            <a:off x="6118066" y="3744000"/>
            <a:ext cx="1741934" cy="1712761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2" name="CustomShape 7"/>
          <p:cNvSpPr/>
          <p:nvPr/>
        </p:nvSpPr>
        <p:spPr>
          <a:xfrm>
            <a:off x="6349080" y="493308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5" name="Line 10"/>
          <p:cNvSpPr/>
          <p:nvPr/>
        </p:nvSpPr>
        <p:spPr>
          <a:xfrm>
            <a:off x="7320000" y="4320000"/>
            <a:ext cx="1080000" cy="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6" name="Line 11"/>
          <p:cNvSpPr/>
          <p:nvPr/>
        </p:nvSpPr>
        <p:spPr>
          <a:xfrm flipV="1">
            <a:off x="8616000" y="3744000"/>
            <a:ext cx="468000" cy="50400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7" name="CustomShape 12"/>
          <p:cNvSpPr/>
          <p:nvPr/>
        </p:nvSpPr>
        <p:spPr>
          <a:xfrm>
            <a:off x="8328000" y="417600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8" name="CustomShape 13"/>
          <p:cNvSpPr/>
          <p:nvPr/>
        </p:nvSpPr>
        <p:spPr>
          <a:xfrm>
            <a:off x="7104720" y="414072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50" name="TextShape 15"/>
          <p:cNvSpPr txBox="1"/>
          <p:nvPr/>
        </p:nvSpPr>
        <p:spPr>
          <a:xfrm>
            <a:off x="7068000" y="1332000"/>
            <a:ext cx="81468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loved</a:t>
            </a:r>
            <a:endParaRPr lang="en-GB" sz="1400" spc="-1" dirty="0">
              <a:latin typeface="Arial"/>
            </a:endParaRPr>
          </a:p>
        </p:txBody>
      </p:sp>
      <p:sp>
        <p:nvSpPr>
          <p:cNvPr id="751" name="TextShape 16"/>
          <p:cNvSpPr txBox="1"/>
          <p:nvPr/>
        </p:nvSpPr>
        <p:spPr>
          <a:xfrm>
            <a:off x="9732360" y="3744000"/>
            <a:ext cx="95328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amazing</a:t>
            </a:r>
            <a:endParaRPr lang="en-GB" sz="1400" spc="-1" dirty="0">
              <a:latin typeface="Arial"/>
            </a:endParaRPr>
          </a:p>
        </p:txBody>
      </p:sp>
      <p:sp>
        <p:nvSpPr>
          <p:cNvPr id="752" name="TextShape 17"/>
          <p:cNvSpPr txBox="1"/>
          <p:nvPr/>
        </p:nvSpPr>
        <p:spPr>
          <a:xfrm>
            <a:off x="5394360" y="5292000"/>
            <a:ext cx="81612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hated</a:t>
            </a:r>
            <a:endParaRPr lang="en-GB" sz="1400" spc="-1" dirty="0">
              <a:latin typeface="Arial"/>
            </a:endParaRPr>
          </a:p>
        </p:txBody>
      </p:sp>
      <p:sp>
        <p:nvSpPr>
          <p:cNvPr id="757" name="TextShape 22"/>
          <p:cNvSpPr txBox="1"/>
          <p:nvPr/>
        </p:nvSpPr>
        <p:spPr>
          <a:xfrm>
            <a:off x="8696640" y="4284000"/>
            <a:ext cx="136176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amazing how much I hated this</a:t>
            </a:r>
          </a:p>
        </p:txBody>
      </p:sp>
      <p:sp>
        <p:nvSpPr>
          <p:cNvPr id="758" name="TextShape 23"/>
          <p:cNvSpPr txBox="1"/>
          <p:nvPr/>
        </p:nvSpPr>
        <p:spPr>
          <a:xfrm>
            <a:off x="7111402" y="4477680"/>
            <a:ext cx="95328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hated this movie</a:t>
            </a:r>
          </a:p>
        </p:txBody>
      </p:sp>
      <p:sp>
        <p:nvSpPr>
          <p:cNvPr id="759" name="TextShape 24"/>
          <p:cNvSpPr txBox="1"/>
          <p:nvPr/>
        </p:nvSpPr>
        <p:spPr>
          <a:xfrm>
            <a:off x="9265296" y="2348460"/>
            <a:ext cx="1159474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loved this amazing movie</a:t>
            </a:r>
          </a:p>
        </p:txBody>
      </p:sp>
      <p:sp>
        <p:nvSpPr>
          <p:cNvPr id="760" name="TextShape 25"/>
          <p:cNvSpPr txBox="1"/>
          <p:nvPr/>
        </p:nvSpPr>
        <p:spPr>
          <a:xfrm>
            <a:off x="6348000" y="5234400"/>
            <a:ext cx="1314720" cy="68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hated the cast, hated the plot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7685AF-2291-C343-C3D2-56FD45080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Bag of words</a:t>
            </a:r>
          </a:p>
        </p:txBody>
      </p:sp>
      <p:sp>
        <p:nvSpPr>
          <p:cNvPr id="4" name="CustomShape 12">
            <a:extLst>
              <a:ext uri="{FF2B5EF4-FFF2-40B4-BE49-F238E27FC236}">
                <a16:creationId xmlns:a16="http://schemas.microsoft.com/office/drawing/2014/main" id="{1103CED4-4841-356B-CDCF-D5407AEB52B2}"/>
              </a:ext>
            </a:extLst>
          </p:cNvPr>
          <p:cNvSpPr/>
          <p:nvPr/>
        </p:nvSpPr>
        <p:spPr>
          <a:xfrm>
            <a:off x="8896525" y="2402974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" name="Line 8">
            <a:extLst>
              <a:ext uri="{FF2B5EF4-FFF2-40B4-BE49-F238E27FC236}">
                <a16:creationId xmlns:a16="http://schemas.microsoft.com/office/drawing/2014/main" id="{E096D6F1-0FA1-DE1A-9112-E2E9DB10A35E}"/>
              </a:ext>
            </a:extLst>
          </p:cNvPr>
          <p:cNvSpPr/>
          <p:nvPr/>
        </p:nvSpPr>
        <p:spPr>
          <a:xfrm flipH="1" flipV="1">
            <a:off x="7872046" y="2575385"/>
            <a:ext cx="971013" cy="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" name="Line 9">
            <a:extLst>
              <a:ext uri="{FF2B5EF4-FFF2-40B4-BE49-F238E27FC236}">
                <a16:creationId xmlns:a16="http://schemas.microsoft.com/office/drawing/2014/main" id="{EB410880-BECC-2634-121A-3832A35850FC}"/>
              </a:ext>
            </a:extLst>
          </p:cNvPr>
          <p:cNvSpPr/>
          <p:nvPr/>
        </p:nvSpPr>
        <p:spPr>
          <a:xfrm flipV="1">
            <a:off x="9084000" y="2762974"/>
            <a:ext cx="0" cy="90072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" name="TextShape 24">
            <a:extLst>
              <a:ext uri="{FF2B5EF4-FFF2-40B4-BE49-F238E27FC236}">
                <a16:creationId xmlns:a16="http://schemas.microsoft.com/office/drawing/2014/main" id="{2FB01EA0-DDA7-19C6-4BF9-21FA8EC512CC}"/>
              </a:ext>
            </a:extLst>
          </p:cNvPr>
          <p:cNvSpPr txBox="1"/>
          <p:nvPr/>
        </p:nvSpPr>
        <p:spPr>
          <a:xfrm>
            <a:off x="7854900" y="2242110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8" name="TextShape 24">
            <a:extLst>
              <a:ext uri="{FF2B5EF4-FFF2-40B4-BE49-F238E27FC236}">
                <a16:creationId xmlns:a16="http://schemas.microsoft.com/office/drawing/2014/main" id="{8A5C7048-220D-05EA-06FC-9C0B3AB7E0A3}"/>
              </a:ext>
            </a:extLst>
          </p:cNvPr>
          <p:cNvSpPr txBox="1"/>
          <p:nvPr/>
        </p:nvSpPr>
        <p:spPr>
          <a:xfrm>
            <a:off x="7441400" y="4002791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9" name="TextShape 24">
            <a:extLst>
              <a:ext uri="{FF2B5EF4-FFF2-40B4-BE49-F238E27FC236}">
                <a16:creationId xmlns:a16="http://schemas.microsoft.com/office/drawing/2014/main" id="{CDEC86B6-5216-6F63-E654-002CDD775C5E}"/>
              </a:ext>
            </a:extLst>
          </p:cNvPr>
          <p:cNvSpPr txBox="1"/>
          <p:nvPr/>
        </p:nvSpPr>
        <p:spPr>
          <a:xfrm>
            <a:off x="9116290" y="3512404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749" name="CustomShape 14"/>
          <p:cNvSpPr/>
          <p:nvPr/>
        </p:nvSpPr>
        <p:spPr>
          <a:xfrm>
            <a:off x="7681297" y="245772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" name="TextShape 23">
            <a:extLst>
              <a:ext uri="{FF2B5EF4-FFF2-40B4-BE49-F238E27FC236}">
                <a16:creationId xmlns:a16="http://schemas.microsoft.com/office/drawing/2014/main" id="{1FE8B79E-55ED-F198-08A1-E73774798E2F}"/>
              </a:ext>
            </a:extLst>
          </p:cNvPr>
          <p:cNvSpPr txBox="1"/>
          <p:nvPr/>
        </p:nvSpPr>
        <p:spPr>
          <a:xfrm>
            <a:off x="6908017" y="2533170"/>
            <a:ext cx="95328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loved it!</a:t>
            </a:r>
          </a:p>
        </p:txBody>
      </p:sp>
      <p:sp>
        <p:nvSpPr>
          <p:cNvPr id="12" name="Line 6">
            <a:extLst>
              <a:ext uri="{FF2B5EF4-FFF2-40B4-BE49-F238E27FC236}">
                <a16:creationId xmlns:a16="http://schemas.microsoft.com/office/drawing/2014/main" id="{31BEB694-6175-5640-FF21-6F6AABB3518F}"/>
              </a:ext>
            </a:extLst>
          </p:cNvPr>
          <p:cNvSpPr/>
          <p:nvPr/>
        </p:nvSpPr>
        <p:spPr>
          <a:xfrm flipH="1">
            <a:off x="6093934" y="1564919"/>
            <a:ext cx="1766038" cy="1675037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" name="Line 4">
            <a:extLst>
              <a:ext uri="{FF2B5EF4-FFF2-40B4-BE49-F238E27FC236}">
                <a16:creationId xmlns:a16="http://schemas.microsoft.com/office/drawing/2014/main" id="{224019EC-586B-1E99-A034-224F518AF74D}"/>
              </a:ext>
            </a:extLst>
          </p:cNvPr>
          <p:cNvSpPr/>
          <p:nvPr/>
        </p:nvSpPr>
        <p:spPr>
          <a:xfrm flipV="1">
            <a:off x="7868745" y="1543421"/>
            <a:ext cx="2268671" cy="14628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" name="Line 6">
            <a:extLst>
              <a:ext uri="{FF2B5EF4-FFF2-40B4-BE49-F238E27FC236}">
                <a16:creationId xmlns:a16="http://schemas.microsoft.com/office/drawing/2014/main" id="{1E6D1E62-0390-DC27-647B-AD2FD0F4A7B6}"/>
              </a:ext>
            </a:extLst>
          </p:cNvPr>
          <p:cNvSpPr/>
          <p:nvPr/>
        </p:nvSpPr>
        <p:spPr>
          <a:xfrm flipH="1">
            <a:off x="8432287" y="3740835"/>
            <a:ext cx="1724623" cy="1715926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" name="Line 6">
            <a:extLst>
              <a:ext uri="{FF2B5EF4-FFF2-40B4-BE49-F238E27FC236}">
                <a16:creationId xmlns:a16="http://schemas.microsoft.com/office/drawing/2014/main" id="{734FC62D-3318-9F72-4265-0136235FDA91}"/>
              </a:ext>
            </a:extLst>
          </p:cNvPr>
          <p:cNvSpPr/>
          <p:nvPr/>
        </p:nvSpPr>
        <p:spPr>
          <a:xfrm flipH="1">
            <a:off x="8392524" y="1543421"/>
            <a:ext cx="1744893" cy="1696537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" name="Line 5">
            <a:extLst>
              <a:ext uri="{FF2B5EF4-FFF2-40B4-BE49-F238E27FC236}">
                <a16:creationId xmlns:a16="http://schemas.microsoft.com/office/drawing/2014/main" id="{5EFD8680-9FCF-54DC-BB53-EFA1CDAE1D96}"/>
              </a:ext>
            </a:extLst>
          </p:cNvPr>
          <p:cNvSpPr/>
          <p:nvPr/>
        </p:nvSpPr>
        <p:spPr>
          <a:xfrm flipH="1" flipV="1">
            <a:off x="10137420" y="1544248"/>
            <a:ext cx="29566" cy="2197414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8" name="Line 4">
            <a:extLst>
              <a:ext uri="{FF2B5EF4-FFF2-40B4-BE49-F238E27FC236}">
                <a16:creationId xmlns:a16="http://schemas.microsoft.com/office/drawing/2014/main" id="{4F6E8361-3726-6096-757E-39A9A80132A5}"/>
              </a:ext>
            </a:extLst>
          </p:cNvPr>
          <p:cNvSpPr/>
          <p:nvPr/>
        </p:nvSpPr>
        <p:spPr>
          <a:xfrm>
            <a:off x="6096000" y="3232850"/>
            <a:ext cx="2304000" cy="0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" name="Line 4">
            <a:extLst>
              <a:ext uri="{FF2B5EF4-FFF2-40B4-BE49-F238E27FC236}">
                <a16:creationId xmlns:a16="http://schemas.microsoft.com/office/drawing/2014/main" id="{4305790B-2085-E23A-E5F6-269196F4C79B}"/>
              </a:ext>
            </a:extLst>
          </p:cNvPr>
          <p:cNvSpPr/>
          <p:nvPr/>
        </p:nvSpPr>
        <p:spPr>
          <a:xfrm>
            <a:off x="6093934" y="5468516"/>
            <a:ext cx="2341507" cy="0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" name="Line 5">
            <a:extLst>
              <a:ext uri="{FF2B5EF4-FFF2-40B4-BE49-F238E27FC236}">
                <a16:creationId xmlns:a16="http://schemas.microsoft.com/office/drawing/2014/main" id="{16969A89-E8D2-DD52-4429-001DC3F7C125}"/>
              </a:ext>
            </a:extLst>
          </p:cNvPr>
          <p:cNvSpPr/>
          <p:nvPr/>
        </p:nvSpPr>
        <p:spPr>
          <a:xfrm flipH="1" flipV="1">
            <a:off x="6095592" y="3239958"/>
            <a:ext cx="22474" cy="2228558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" name="Line 5">
            <a:extLst>
              <a:ext uri="{FF2B5EF4-FFF2-40B4-BE49-F238E27FC236}">
                <a16:creationId xmlns:a16="http://schemas.microsoft.com/office/drawing/2014/main" id="{1A50676E-4926-26DA-A3E8-30B26102517D}"/>
              </a:ext>
            </a:extLst>
          </p:cNvPr>
          <p:cNvSpPr/>
          <p:nvPr/>
        </p:nvSpPr>
        <p:spPr>
          <a:xfrm flipH="1" flipV="1">
            <a:off x="8406680" y="3232850"/>
            <a:ext cx="25608" cy="2235666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DE6E05C6-B62C-DE49-D0F9-D9B92072C462}"/>
              </a:ext>
            </a:extLst>
          </p:cNvPr>
          <p:cNvSpPr/>
          <p:nvPr/>
        </p:nvSpPr>
        <p:spPr>
          <a:xfrm>
            <a:off x="7486650" y="1914525"/>
            <a:ext cx="2357438" cy="2143125"/>
          </a:xfrm>
          <a:custGeom>
            <a:avLst/>
            <a:gdLst>
              <a:gd name="connsiteX0" fmla="*/ 0 w 2357438"/>
              <a:gd name="connsiteY0" fmla="*/ 28575 h 2143125"/>
              <a:gd name="connsiteX1" fmla="*/ 85725 w 2357438"/>
              <a:gd name="connsiteY1" fmla="*/ 2100263 h 2143125"/>
              <a:gd name="connsiteX2" fmla="*/ 2357438 w 2357438"/>
              <a:gd name="connsiteY2" fmla="*/ 2143125 h 2143125"/>
              <a:gd name="connsiteX3" fmla="*/ 2328863 w 2357438"/>
              <a:gd name="connsiteY3" fmla="*/ 0 h 2143125"/>
              <a:gd name="connsiteX4" fmla="*/ 0 w 2357438"/>
              <a:gd name="connsiteY4" fmla="*/ 28575 h 2143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7438" h="2143125">
                <a:moveTo>
                  <a:pt x="0" y="28575"/>
                </a:moveTo>
                <a:lnTo>
                  <a:pt x="85725" y="2100263"/>
                </a:lnTo>
                <a:lnTo>
                  <a:pt x="2357438" y="2143125"/>
                </a:lnTo>
                <a:lnTo>
                  <a:pt x="2328863" y="0"/>
                </a:lnTo>
                <a:lnTo>
                  <a:pt x="0" y="28575"/>
                </a:lnTo>
                <a:close/>
              </a:path>
            </a:pathLst>
          </a:custGeom>
          <a:solidFill>
            <a:schemeClr val="accent1">
              <a:alpha val="17115"/>
            </a:schemeClr>
          </a:solidFill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11" name="TextShape 24">
            <a:extLst>
              <a:ext uri="{FF2B5EF4-FFF2-40B4-BE49-F238E27FC236}">
                <a16:creationId xmlns:a16="http://schemas.microsoft.com/office/drawing/2014/main" id="{9CCF950D-5FD3-A177-C7A5-C67234E91B35}"/>
              </a:ext>
            </a:extLst>
          </p:cNvPr>
          <p:cNvSpPr txBox="1"/>
          <p:nvPr/>
        </p:nvSpPr>
        <p:spPr>
          <a:xfrm>
            <a:off x="6714571" y="4741342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52197383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FEF89-72F1-B33A-471B-7308B4DF0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TextShape 2">
            <a:extLst>
              <a:ext uri="{FF2B5EF4-FFF2-40B4-BE49-F238E27FC236}">
                <a16:creationId xmlns:a16="http://schemas.microsoft.com/office/drawing/2014/main" id="{C56E0EB3-598C-5386-B192-C09CED20CB20}"/>
              </a:ext>
            </a:extLst>
          </p:cNvPr>
          <p:cNvSpPr txBox="1"/>
          <p:nvPr/>
        </p:nvSpPr>
        <p:spPr>
          <a:xfrm>
            <a:off x="394047" y="1783290"/>
            <a:ext cx="4337928" cy="1499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What about word order?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What about negation?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All words have the same influence, regardless of their salience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More sophisticated representations are available!</a:t>
            </a:r>
          </a:p>
        </p:txBody>
      </p:sp>
      <p:sp>
        <p:nvSpPr>
          <p:cNvPr id="739" name="Line 4">
            <a:extLst>
              <a:ext uri="{FF2B5EF4-FFF2-40B4-BE49-F238E27FC236}">
                <a16:creationId xmlns:a16="http://schemas.microsoft.com/office/drawing/2014/main" id="{61A071A2-ECAB-0B58-695A-365EACE50FAF}"/>
              </a:ext>
            </a:extLst>
          </p:cNvPr>
          <p:cNvSpPr/>
          <p:nvPr/>
        </p:nvSpPr>
        <p:spPr>
          <a:xfrm>
            <a:off x="7860000" y="3744000"/>
            <a:ext cx="2304000" cy="0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0" name="Line 5">
            <a:extLst>
              <a:ext uri="{FF2B5EF4-FFF2-40B4-BE49-F238E27FC236}">
                <a16:creationId xmlns:a16="http://schemas.microsoft.com/office/drawing/2014/main" id="{AFCA4C48-8F42-5701-2671-94DF094B1778}"/>
              </a:ext>
            </a:extLst>
          </p:cNvPr>
          <p:cNvSpPr/>
          <p:nvPr/>
        </p:nvSpPr>
        <p:spPr>
          <a:xfrm flipV="1">
            <a:off x="7859999" y="1558050"/>
            <a:ext cx="8747" cy="2185949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1" name="Line 6">
            <a:extLst>
              <a:ext uri="{FF2B5EF4-FFF2-40B4-BE49-F238E27FC236}">
                <a16:creationId xmlns:a16="http://schemas.microsoft.com/office/drawing/2014/main" id="{2DCB7AE5-F7D3-478C-4C0C-F1DDA1DF2BB8}"/>
              </a:ext>
            </a:extLst>
          </p:cNvPr>
          <p:cNvSpPr/>
          <p:nvPr/>
        </p:nvSpPr>
        <p:spPr>
          <a:xfrm flipH="1">
            <a:off x="6118066" y="3744000"/>
            <a:ext cx="1741934" cy="1712761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2" name="CustomShape 7">
            <a:extLst>
              <a:ext uri="{FF2B5EF4-FFF2-40B4-BE49-F238E27FC236}">
                <a16:creationId xmlns:a16="http://schemas.microsoft.com/office/drawing/2014/main" id="{DA9CC694-2225-E58D-EFE9-E6A826454AB7}"/>
              </a:ext>
            </a:extLst>
          </p:cNvPr>
          <p:cNvSpPr/>
          <p:nvPr/>
        </p:nvSpPr>
        <p:spPr>
          <a:xfrm>
            <a:off x="6349080" y="493308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5" name="Line 10">
            <a:extLst>
              <a:ext uri="{FF2B5EF4-FFF2-40B4-BE49-F238E27FC236}">
                <a16:creationId xmlns:a16="http://schemas.microsoft.com/office/drawing/2014/main" id="{400028E4-132F-D53B-B138-AE429AF709DD}"/>
              </a:ext>
            </a:extLst>
          </p:cNvPr>
          <p:cNvSpPr/>
          <p:nvPr/>
        </p:nvSpPr>
        <p:spPr>
          <a:xfrm>
            <a:off x="7320000" y="4320000"/>
            <a:ext cx="1080000" cy="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6" name="Line 11">
            <a:extLst>
              <a:ext uri="{FF2B5EF4-FFF2-40B4-BE49-F238E27FC236}">
                <a16:creationId xmlns:a16="http://schemas.microsoft.com/office/drawing/2014/main" id="{FB91F6F2-245D-BAE4-E64F-E01635C14BBA}"/>
              </a:ext>
            </a:extLst>
          </p:cNvPr>
          <p:cNvSpPr/>
          <p:nvPr/>
        </p:nvSpPr>
        <p:spPr>
          <a:xfrm flipV="1">
            <a:off x="8616000" y="3744000"/>
            <a:ext cx="468000" cy="50400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7" name="CustomShape 12">
            <a:extLst>
              <a:ext uri="{FF2B5EF4-FFF2-40B4-BE49-F238E27FC236}">
                <a16:creationId xmlns:a16="http://schemas.microsoft.com/office/drawing/2014/main" id="{C9194492-82E3-076B-87A7-8BB02BEDCF23}"/>
              </a:ext>
            </a:extLst>
          </p:cNvPr>
          <p:cNvSpPr/>
          <p:nvPr/>
        </p:nvSpPr>
        <p:spPr>
          <a:xfrm>
            <a:off x="8328000" y="417600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8" name="CustomShape 13">
            <a:extLst>
              <a:ext uri="{FF2B5EF4-FFF2-40B4-BE49-F238E27FC236}">
                <a16:creationId xmlns:a16="http://schemas.microsoft.com/office/drawing/2014/main" id="{E33AE228-A357-F5C8-A3A5-4F7814120120}"/>
              </a:ext>
            </a:extLst>
          </p:cNvPr>
          <p:cNvSpPr/>
          <p:nvPr/>
        </p:nvSpPr>
        <p:spPr>
          <a:xfrm>
            <a:off x="7104720" y="414072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50" name="TextShape 15">
            <a:extLst>
              <a:ext uri="{FF2B5EF4-FFF2-40B4-BE49-F238E27FC236}">
                <a16:creationId xmlns:a16="http://schemas.microsoft.com/office/drawing/2014/main" id="{83555EF0-1C7A-653C-1A5A-92FC32112AE5}"/>
              </a:ext>
            </a:extLst>
          </p:cNvPr>
          <p:cNvSpPr txBox="1"/>
          <p:nvPr/>
        </p:nvSpPr>
        <p:spPr>
          <a:xfrm>
            <a:off x="7068000" y="1332000"/>
            <a:ext cx="81468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loved</a:t>
            </a:r>
            <a:endParaRPr lang="en-GB" sz="1400" spc="-1" dirty="0">
              <a:latin typeface="Arial"/>
            </a:endParaRPr>
          </a:p>
        </p:txBody>
      </p:sp>
      <p:sp>
        <p:nvSpPr>
          <p:cNvPr id="751" name="TextShape 16">
            <a:extLst>
              <a:ext uri="{FF2B5EF4-FFF2-40B4-BE49-F238E27FC236}">
                <a16:creationId xmlns:a16="http://schemas.microsoft.com/office/drawing/2014/main" id="{BE54A97A-1D4A-A22A-855C-888C522B8EE4}"/>
              </a:ext>
            </a:extLst>
          </p:cNvPr>
          <p:cNvSpPr txBox="1"/>
          <p:nvPr/>
        </p:nvSpPr>
        <p:spPr>
          <a:xfrm>
            <a:off x="9732360" y="3744000"/>
            <a:ext cx="95328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amazing</a:t>
            </a:r>
            <a:endParaRPr lang="en-GB" sz="1400" spc="-1" dirty="0">
              <a:latin typeface="Arial"/>
            </a:endParaRPr>
          </a:p>
        </p:txBody>
      </p:sp>
      <p:sp>
        <p:nvSpPr>
          <p:cNvPr id="752" name="TextShape 17">
            <a:extLst>
              <a:ext uri="{FF2B5EF4-FFF2-40B4-BE49-F238E27FC236}">
                <a16:creationId xmlns:a16="http://schemas.microsoft.com/office/drawing/2014/main" id="{2086A025-3EC4-BF83-D5C0-CC844F9A3285}"/>
              </a:ext>
            </a:extLst>
          </p:cNvPr>
          <p:cNvSpPr txBox="1"/>
          <p:nvPr/>
        </p:nvSpPr>
        <p:spPr>
          <a:xfrm>
            <a:off x="5394360" y="5292000"/>
            <a:ext cx="81612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hated</a:t>
            </a:r>
            <a:endParaRPr lang="en-GB" sz="1400" spc="-1" dirty="0">
              <a:latin typeface="Arial"/>
            </a:endParaRPr>
          </a:p>
        </p:txBody>
      </p:sp>
      <p:sp>
        <p:nvSpPr>
          <p:cNvPr id="757" name="TextShape 22">
            <a:extLst>
              <a:ext uri="{FF2B5EF4-FFF2-40B4-BE49-F238E27FC236}">
                <a16:creationId xmlns:a16="http://schemas.microsoft.com/office/drawing/2014/main" id="{F3489D5A-0080-B741-19BC-EE1E5E96E4B5}"/>
              </a:ext>
            </a:extLst>
          </p:cNvPr>
          <p:cNvSpPr txBox="1"/>
          <p:nvPr/>
        </p:nvSpPr>
        <p:spPr>
          <a:xfrm>
            <a:off x="8696640" y="4284000"/>
            <a:ext cx="136176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amazing how much I hated this</a:t>
            </a:r>
          </a:p>
        </p:txBody>
      </p:sp>
      <p:sp>
        <p:nvSpPr>
          <p:cNvPr id="758" name="TextShape 23">
            <a:extLst>
              <a:ext uri="{FF2B5EF4-FFF2-40B4-BE49-F238E27FC236}">
                <a16:creationId xmlns:a16="http://schemas.microsoft.com/office/drawing/2014/main" id="{74E3A0C3-F2C8-305D-31E1-D9440C84AABB}"/>
              </a:ext>
            </a:extLst>
          </p:cNvPr>
          <p:cNvSpPr txBox="1"/>
          <p:nvPr/>
        </p:nvSpPr>
        <p:spPr>
          <a:xfrm>
            <a:off x="7111402" y="4477680"/>
            <a:ext cx="95328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hated this movie</a:t>
            </a:r>
          </a:p>
        </p:txBody>
      </p:sp>
      <p:sp>
        <p:nvSpPr>
          <p:cNvPr id="759" name="TextShape 24">
            <a:extLst>
              <a:ext uri="{FF2B5EF4-FFF2-40B4-BE49-F238E27FC236}">
                <a16:creationId xmlns:a16="http://schemas.microsoft.com/office/drawing/2014/main" id="{F0DF7ECB-5877-D9A7-7756-190C8BFA8D9D}"/>
              </a:ext>
            </a:extLst>
          </p:cNvPr>
          <p:cNvSpPr txBox="1"/>
          <p:nvPr/>
        </p:nvSpPr>
        <p:spPr>
          <a:xfrm>
            <a:off x="9265296" y="2348460"/>
            <a:ext cx="1159474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loved this amazing movie</a:t>
            </a:r>
          </a:p>
        </p:txBody>
      </p:sp>
      <p:sp>
        <p:nvSpPr>
          <p:cNvPr id="760" name="TextShape 25">
            <a:extLst>
              <a:ext uri="{FF2B5EF4-FFF2-40B4-BE49-F238E27FC236}">
                <a16:creationId xmlns:a16="http://schemas.microsoft.com/office/drawing/2014/main" id="{71DB0689-3CC3-36AD-9759-01842181A3FA}"/>
              </a:ext>
            </a:extLst>
          </p:cNvPr>
          <p:cNvSpPr txBox="1"/>
          <p:nvPr/>
        </p:nvSpPr>
        <p:spPr>
          <a:xfrm>
            <a:off x="6348000" y="5234400"/>
            <a:ext cx="1314720" cy="68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hated the cast, hated the plot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035A4D-9C64-5680-9FB0-83AD91CC9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Bag of words</a:t>
            </a:r>
          </a:p>
        </p:txBody>
      </p:sp>
      <p:sp>
        <p:nvSpPr>
          <p:cNvPr id="4" name="CustomShape 12">
            <a:extLst>
              <a:ext uri="{FF2B5EF4-FFF2-40B4-BE49-F238E27FC236}">
                <a16:creationId xmlns:a16="http://schemas.microsoft.com/office/drawing/2014/main" id="{FD8F5B23-1914-F464-3C51-84F1F6916B9C}"/>
              </a:ext>
            </a:extLst>
          </p:cNvPr>
          <p:cNvSpPr/>
          <p:nvPr/>
        </p:nvSpPr>
        <p:spPr>
          <a:xfrm>
            <a:off x="8896525" y="2402974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" name="Line 8">
            <a:extLst>
              <a:ext uri="{FF2B5EF4-FFF2-40B4-BE49-F238E27FC236}">
                <a16:creationId xmlns:a16="http://schemas.microsoft.com/office/drawing/2014/main" id="{A9AC75BF-270E-5BB7-A712-16D5577DC30B}"/>
              </a:ext>
            </a:extLst>
          </p:cNvPr>
          <p:cNvSpPr/>
          <p:nvPr/>
        </p:nvSpPr>
        <p:spPr>
          <a:xfrm flipH="1" flipV="1">
            <a:off x="7872046" y="2575385"/>
            <a:ext cx="971013" cy="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" name="Line 9">
            <a:extLst>
              <a:ext uri="{FF2B5EF4-FFF2-40B4-BE49-F238E27FC236}">
                <a16:creationId xmlns:a16="http://schemas.microsoft.com/office/drawing/2014/main" id="{94BD6A63-AFC0-F7A8-D0C3-0D6E280BD625}"/>
              </a:ext>
            </a:extLst>
          </p:cNvPr>
          <p:cNvSpPr/>
          <p:nvPr/>
        </p:nvSpPr>
        <p:spPr>
          <a:xfrm flipV="1">
            <a:off x="9084000" y="2762974"/>
            <a:ext cx="0" cy="90072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" name="TextShape 24">
            <a:extLst>
              <a:ext uri="{FF2B5EF4-FFF2-40B4-BE49-F238E27FC236}">
                <a16:creationId xmlns:a16="http://schemas.microsoft.com/office/drawing/2014/main" id="{17B19A2C-1464-53FB-BBAE-939A301BC8F0}"/>
              </a:ext>
            </a:extLst>
          </p:cNvPr>
          <p:cNvSpPr txBox="1"/>
          <p:nvPr/>
        </p:nvSpPr>
        <p:spPr>
          <a:xfrm>
            <a:off x="7854900" y="2242110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8" name="TextShape 24">
            <a:extLst>
              <a:ext uri="{FF2B5EF4-FFF2-40B4-BE49-F238E27FC236}">
                <a16:creationId xmlns:a16="http://schemas.microsoft.com/office/drawing/2014/main" id="{B9D8A652-F068-A285-D141-B44C0BACAE5E}"/>
              </a:ext>
            </a:extLst>
          </p:cNvPr>
          <p:cNvSpPr txBox="1"/>
          <p:nvPr/>
        </p:nvSpPr>
        <p:spPr>
          <a:xfrm>
            <a:off x="7441400" y="4002791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9" name="TextShape 24">
            <a:extLst>
              <a:ext uri="{FF2B5EF4-FFF2-40B4-BE49-F238E27FC236}">
                <a16:creationId xmlns:a16="http://schemas.microsoft.com/office/drawing/2014/main" id="{4D02D3A1-3EB7-1431-A062-FA8F0137C957}"/>
              </a:ext>
            </a:extLst>
          </p:cNvPr>
          <p:cNvSpPr txBox="1"/>
          <p:nvPr/>
        </p:nvSpPr>
        <p:spPr>
          <a:xfrm>
            <a:off x="9116290" y="3512404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749" name="CustomShape 14">
            <a:extLst>
              <a:ext uri="{FF2B5EF4-FFF2-40B4-BE49-F238E27FC236}">
                <a16:creationId xmlns:a16="http://schemas.microsoft.com/office/drawing/2014/main" id="{84554A8B-F2D9-B4D5-6FA9-2BF6F2B10396}"/>
              </a:ext>
            </a:extLst>
          </p:cNvPr>
          <p:cNvSpPr/>
          <p:nvPr/>
        </p:nvSpPr>
        <p:spPr>
          <a:xfrm>
            <a:off x="7681297" y="245772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" name="TextShape 23">
            <a:extLst>
              <a:ext uri="{FF2B5EF4-FFF2-40B4-BE49-F238E27FC236}">
                <a16:creationId xmlns:a16="http://schemas.microsoft.com/office/drawing/2014/main" id="{732313AE-1936-F8D6-51A5-78FB82CDB354}"/>
              </a:ext>
            </a:extLst>
          </p:cNvPr>
          <p:cNvSpPr txBox="1"/>
          <p:nvPr/>
        </p:nvSpPr>
        <p:spPr>
          <a:xfrm>
            <a:off x="6908017" y="2533170"/>
            <a:ext cx="95328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loved it!</a:t>
            </a:r>
          </a:p>
        </p:txBody>
      </p:sp>
      <p:sp>
        <p:nvSpPr>
          <p:cNvPr id="12" name="Line 6">
            <a:extLst>
              <a:ext uri="{FF2B5EF4-FFF2-40B4-BE49-F238E27FC236}">
                <a16:creationId xmlns:a16="http://schemas.microsoft.com/office/drawing/2014/main" id="{EE0044A6-4DC0-023E-9E37-8AA2763B665B}"/>
              </a:ext>
            </a:extLst>
          </p:cNvPr>
          <p:cNvSpPr/>
          <p:nvPr/>
        </p:nvSpPr>
        <p:spPr>
          <a:xfrm flipH="1">
            <a:off x="6093934" y="1564919"/>
            <a:ext cx="1766038" cy="1675037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" name="Line 4">
            <a:extLst>
              <a:ext uri="{FF2B5EF4-FFF2-40B4-BE49-F238E27FC236}">
                <a16:creationId xmlns:a16="http://schemas.microsoft.com/office/drawing/2014/main" id="{4593C395-ADB2-2B26-652E-75344F3554B4}"/>
              </a:ext>
            </a:extLst>
          </p:cNvPr>
          <p:cNvSpPr/>
          <p:nvPr/>
        </p:nvSpPr>
        <p:spPr>
          <a:xfrm flipV="1">
            <a:off x="7868745" y="1543421"/>
            <a:ext cx="2268671" cy="14628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" name="Line 6">
            <a:extLst>
              <a:ext uri="{FF2B5EF4-FFF2-40B4-BE49-F238E27FC236}">
                <a16:creationId xmlns:a16="http://schemas.microsoft.com/office/drawing/2014/main" id="{1C086094-2AF4-CBAD-6978-32663A7CD831}"/>
              </a:ext>
            </a:extLst>
          </p:cNvPr>
          <p:cNvSpPr/>
          <p:nvPr/>
        </p:nvSpPr>
        <p:spPr>
          <a:xfrm flipH="1">
            <a:off x="8432287" y="3740835"/>
            <a:ext cx="1724623" cy="1715926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" name="Line 6">
            <a:extLst>
              <a:ext uri="{FF2B5EF4-FFF2-40B4-BE49-F238E27FC236}">
                <a16:creationId xmlns:a16="http://schemas.microsoft.com/office/drawing/2014/main" id="{BE7F8635-D9D0-A15E-4714-F4C8A77C7A4E}"/>
              </a:ext>
            </a:extLst>
          </p:cNvPr>
          <p:cNvSpPr/>
          <p:nvPr/>
        </p:nvSpPr>
        <p:spPr>
          <a:xfrm flipH="1">
            <a:off x="8392524" y="1543421"/>
            <a:ext cx="1744893" cy="1696537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" name="Line 5">
            <a:extLst>
              <a:ext uri="{FF2B5EF4-FFF2-40B4-BE49-F238E27FC236}">
                <a16:creationId xmlns:a16="http://schemas.microsoft.com/office/drawing/2014/main" id="{978A457C-2EE5-D06B-033F-F500E6C30ACE}"/>
              </a:ext>
            </a:extLst>
          </p:cNvPr>
          <p:cNvSpPr/>
          <p:nvPr/>
        </p:nvSpPr>
        <p:spPr>
          <a:xfrm flipH="1" flipV="1">
            <a:off x="10137420" y="1544248"/>
            <a:ext cx="29566" cy="2197414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8" name="Line 4">
            <a:extLst>
              <a:ext uri="{FF2B5EF4-FFF2-40B4-BE49-F238E27FC236}">
                <a16:creationId xmlns:a16="http://schemas.microsoft.com/office/drawing/2014/main" id="{FCA0EE99-27C4-A827-E5A5-74CA58182556}"/>
              </a:ext>
            </a:extLst>
          </p:cNvPr>
          <p:cNvSpPr/>
          <p:nvPr/>
        </p:nvSpPr>
        <p:spPr>
          <a:xfrm>
            <a:off x="6096000" y="3232850"/>
            <a:ext cx="2304000" cy="0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" name="Line 4">
            <a:extLst>
              <a:ext uri="{FF2B5EF4-FFF2-40B4-BE49-F238E27FC236}">
                <a16:creationId xmlns:a16="http://schemas.microsoft.com/office/drawing/2014/main" id="{AE041204-0817-A64D-C510-66BD680970AA}"/>
              </a:ext>
            </a:extLst>
          </p:cNvPr>
          <p:cNvSpPr/>
          <p:nvPr/>
        </p:nvSpPr>
        <p:spPr>
          <a:xfrm>
            <a:off x="6093934" y="5468516"/>
            <a:ext cx="2341507" cy="0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" name="Line 5">
            <a:extLst>
              <a:ext uri="{FF2B5EF4-FFF2-40B4-BE49-F238E27FC236}">
                <a16:creationId xmlns:a16="http://schemas.microsoft.com/office/drawing/2014/main" id="{9F918B43-0042-0A01-F7F7-BA20BAE00C6E}"/>
              </a:ext>
            </a:extLst>
          </p:cNvPr>
          <p:cNvSpPr/>
          <p:nvPr/>
        </p:nvSpPr>
        <p:spPr>
          <a:xfrm flipH="1" flipV="1">
            <a:off x="6095592" y="3239958"/>
            <a:ext cx="22474" cy="2228558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" name="Line 5">
            <a:extLst>
              <a:ext uri="{FF2B5EF4-FFF2-40B4-BE49-F238E27FC236}">
                <a16:creationId xmlns:a16="http://schemas.microsoft.com/office/drawing/2014/main" id="{C0494574-FF52-4570-1E0E-FF6EEB063631}"/>
              </a:ext>
            </a:extLst>
          </p:cNvPr>
          <p:cNvSpPr/>
          <p:nvPr/>
        </p:nvSpPr>
        <p:spPr>
          <a:xfrm flipH="1" flipV="1">
            <a:off x="8406680" y="3232850"/>
            <a:ext cx="25608" cy="2235666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B13948EE-9A3E-83C5-0077-3128D7224332}"/>
              </a:ext>
            </a:extLst>
          </p:cNvPr>
          <p:cNvSpPr/>
          <p:nvPr/>
        </p:nvSpPr>
        <p:spPr>
          <a:xfrm>
            <a:off x="7486650" y="1914525"/>
            <a:ext cx="2357438" cy="2143125"/>
          </a:xfrm>
          <a:custGeom>
            <a:avLst/>
            <a:gdLst>
              <a:gd name="connsiteX0" fmla="*/ 0 w 2357438"/>
              <a:gd name="connsiteY0" fmla="*/ 28575 h 2143125"/>
              <a:gd name="connsiteX1" fmla="*/ 85725 w 2357438"/>
              <a:gd name="connsiteY1" fmla="*/ 2100263 h 2143125"/>
              <a:gd name="connsiteX2" fmla="*/ 2357438 w 2357438"/>
              <a:gd name="connsiteY2" fmla="*/ 2143125 h 2143125"/>
              <a:gd name="connsiteX3" fmla="*/ 2328863 w 2357438"/>
              <a:gd name="connsiteY3" fmla="*/ 0 h 2143125"/>
              <a:gd name="connsiteX4" fmla="*/ 0 w 2357438"/>
              <a:gd name="connsiteY4" fmla="*/ 28575 h 2143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7438" h="2143125">
                <a:moveTo>
                  <a:pt x="0" y="28575"/>
                </a:moveTo>
                <a:lnTo>
                  <a:pt x="85725" y="2100263"/>
                </a:lnTo>
                <a:lnTo>
                  <a:pt x="2357438" y="2143125"/>
                </a:lnTo>
                <a:lnTo>
                  <a:pt x="2328863" y="0"/>
                </a:lnTo>
                <a:lnTo>
                  <a:pt x="0" y="28575"/>
                </a:lnTo>
                <a:close/>
              </a:path>
            </a:pathLst>
          </a:custGeom>
          <a:solidFill>
            <a:schemeClr val="accent1">
              <a:alpha val="17115"/>
            </a:schemeClr>
          </a:solidFill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11" name="TextShape 24">
            <a:extLst>
              <a:ext uri="{FF2B5EF4-FFF2-40B4-BE49-F238E27FC236}">
                <a16:creationId xmlns:a16="http://schemas.microsoft.com/office/drawing/2014/main" id="{DF31E22C-3455-9705-364B-8BEE2F9BD9A6}"/>
              </a:ext>
            </a:extLst>
          </p:cNvPr>
          <p:cNvSpPr txBox="1"/>
          <p:nvPr/>
        </p:nvSpPr>
        <p:spPr>
          <a:xfrm>
            <a:off x="6714571" y="4741342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625629624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FBB7BBB-BDEE-0645-B9B4-BC16FFC452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E695B9B-A7BB-114B-9B0A-D884141025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br>
              <a:rPr lang="en-GB" dirty="0"/>
            </a:br>
            <a:r>
              <a:rPr lang="en-GB" dirty="0" err="1"/>
              <a:t>angus.roberts@kcl.ac.uk</a:t>
            </a:r>
            <a:br>
              <a:rPr lang="en-GB" dirty="0"/>
            </a:br>
            <a:r>
              <a:rPr lang="en-GB" dirty="0"/>
              <a:t>https://</a:t>
            </a:r>
            <a:r>
              <a:rPr lang="en-GB" dirty="0" err="1"/>
              <a:t>www.kcl.ac.uk</a:t>
            </a:r>
            <a:r>
              <a:rPr lang="en-GB" dirty="0"/>
              <a:t>/people/angus-</a:t>
            </a:r>
            <a:r>
              <a:rPr lang="en-GB" dirty="0" err="1"/>
              <a:t>roberts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259036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KCL CTEL presentation template_180112">
  <a:themeElements>
    <a:clrScheme name="KCL">
      <a:dk1>
        <a:sysClr val="windowText" lastClr="000000"/>
      </a:dk1>
      <a:lt1>
        <a:sysClr val="window" lastClr="FFFFFF"/>
      </a:lt1>
      <a:dk2>
        <a:srgbClr val="0A2D50"/>
      </a:dk2>
      <a:lt2>
        <a:srgbClr val="CDD7DC"/>
      </a:lt2>
      <a:accent1>
        <a:srgbClr val="E2231A"/>
      </a:accent1>
      <a:accent2>
        <a:srgbClr val="FF5F05"/>
      </a:accent2>
      <a:accent3>
        <a:srgbClr val="F5B90F"/>
      </a:accent3>
      <a:accent4>
        <a:srgbClr val="C8E128"/>
      </a:accent4>
      <a:accent5>
        <a:srgbClr val="009EA0"/>
      </a:accent5>
      <a:accent6>
        <a:srgbClr val="005AD2"/>
      </a:accent6>
      <a:hlink>
        <a:srgbClr val="E2231A"/>
      </a:hlink>
      <a:folHlink>
        <a:srgbClr val="E2231A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  <a:effectLst/>
      </a:spPr>
      <a:bodyPr rtlCol="0" anchor="t" anchorCtr="0"/>
      <a:lstStyle>
        <a:defPPr algn="l">
          <a:defRPr sz="1400" b="1" dirty="0" smtClean="0">
            <a:solidFill>
              <a:schemeClr val="tx1"/>
            </a:solidFill>
            <a:cs typeface="Georgia"/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02558F287BC8344AD539CDC4DA17FBC" ma:contentTypeVersion="10" ma:contentTypeDescription="Create a new document." ma:contentTypeScope="" ma:versionID="165e8038d85e89d0753c71c915416bd7">
  <xsd:schema xmlns:xsd="http://www.w3.org/2001/XMLSchema" xmlns:xs="http://www.w3.org/2001/XMLSchema" xmlns:p="http://schemas.microsoft.com/office/2006/metadata/properties" xmlns:ns2="a9a9e2ba-2d19-46fe-bf54-0255447a607c" xmlns:ns3="8e67869f-b319-4f8e-812d-d2b9322169ce" targetNamespace="http://schemas.microsoft.com/office/2006/metadata/properties" ma:root="true" ma:fieldsID="abf99e3026b4072fe3426938b59b700a" ns2:_="" ns3:_="">
    <xsd:import namespace="a9a9e2ba-2d19-46fe-bf54-0255447a607c"/>
    <xsd:import namespace="8e67869f-b319-4f8e-812d-d2b9322169c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9e2ba-2d19-46fe-bf54-0255447a60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67869f-b319-4f8e-812d-d2b9322169c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A9C8777-C6EC-4528-A529-B1E15BCDF7A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1B57E6C-04A0-4EB4-9DC4-971645A5D1A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a9e2ba-2d19-46fe-bf54-0255447a607c"/>
    <ds:schemaRef ds:uri="8e67869f-b319-4f8e-812d-d2b9322169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1B4FFAB-A2D9-4FD5-855F-F65126373F7D}">
  <ds:schemaRefs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8e67869f-b319-4f8e-812d-d2b9322169ce"/>
    <ds:schemaRef ds:uri="http://purl.org/dc/terms/"/>
    <ds:schemaRef ds:uri="a9a9e2ba-2d19-46fe-bf54-0255447a607c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10604</TotalTime>
  <Words>286</Words>
  <Application>Microsoft Macintosh PowerPoint</Application>
  <PresentationFormat>Widescreen</PresentationFormat>
  <Paragraphs>63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Courier New</vt:lpstr>
      <vt:lpstr>Georgia</vt:lpstr>
      <vt:lpstr>Wingdings</vt:lpstr>
      <vt:lpstr>KCL CTEL presentation template_180112</vt:lpstr>
      <vt:lpstr>A simple document model:  Bag-of-Words  </vt:lpstr>
      <vt:lpstr>Rationalism: pattern matching</vt:lpstr>
      <vt:lpstr>The rise of empiricism</vt:lpstr>
      <vt:lpstr>Representation documents: Bag of Words </vt:lpstr>
      <vt:lpstr>Bag of words as a vector space</vt:lpstr>
      <vt:lpstr>Bag of words</vt:lpstr>
      <vt:lpstr>Bag of words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Harrison, Sue</dc:creator>
  <cp:lastModifiedBy>Angus Roberts</cp:lastModifiedBy>
  <cp:revision>179</cp:revision>
  <dcterms:created xsi:type="dcterms:W3CDTF">2018-06-13T12:38:06Z</dcterms:created>
  <dcterms:modified xsi:type="dcterms:W3CDTF">2026-01-18T20:03:20Z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0x010100B02558F287BC8344AD539CDC4DA17FBC</vt:lpwstr>
  </property>
</Properties>
</file>