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311" r:id="rId5"/>
    <p:sldId id="315" r:id="rId6"/>
    <p:sldId id="313" r:id="rId7"/>
    <p:sldId id="314" r:id="rId8"/>
    <p:sldId id="324" r:id="rId9"/>
    <p:sldId id="322" r:id="rId10"/>
    <p:sldId id="323" r:id="rId11"/>
    <p:sldId id="325" r:id="rId12"/>
    <p:sldId id="316" r:id="rId13"/>
    <p:sldId id="317" r:id="rId14"/>
    <p:sldId id="30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06DE9B2-5587-B646-BEE3-5A646955262F}">
          <p14:sldIdLst>
            <p14:sldId id="311"/>
            <p14:sldId id="315"/>
            <p14:sldId id="313"/>
            <p14:sldId id="314"/>
            <p14:sldId id="324"/>
            <p14:sldId id="322"/>
            <p14:sldId id="323"/>
            <p14:sldId id="325"/>
            <p14:sldId id="316"/>
            <p14:sldId id="317"/>
            <p14:sldId id="303"/>
          </p14:sldIdLst>
        </p14:section>
        <p14:section name="End of presentation slide" id="{FA6E58FB-4655-4ADA-838A-304575EC2E6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ty, Anne" initials="CA" lastIdx="5" clrIdx="0">
    <p:extLst>
      <p:ext uri="{19B8F6BF-5375-455C-9EA6-DF929625EA0E}">
        <p15:presenceInfo xmlns:p15="http://schemas.microsoft.com/office/powerpoint/2012/main" userId="S::k1771048@kcl.ac.uk::58c097d6-c91f-4fc1-8022-8a02e1ab2328" providerId="AD"/>
      </p:ext>
    </p:extLst>
  </p:cmAuthor>
  <p:cmAuthor id="2" name="user" initials="u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A0"/>
    <a:srgbClr val="C8E128"/>
    <a:srgbClr val="0A2D50"/>
    <a:srgbClr val="5A6469"/>
    <a:srgbClr val="002395"/>
    <a:srgbClr val="501491"/>
    <a:srgbClr val="99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5" autoAdjust="0"/>
    <p:restoredTop sz="86454" autoAdjust="0"/>
  </p:normalViewPr>
  <p:slideViewPr>
    <p:cSldViewPr snapToGrid="0">
      <p:cViewPr varScale="1">
        <p:scale>
          <a:sx n="105" d="100"/>
          <a:sy n="105" d="100"/>
        </p:scale>
        <p:origin x="52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20CBB-D972-D444-8592-B23A7758CEF7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B49CD-7E1B-C543-B23F-34FDB672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4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17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07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UK Cover slide">
    <p:bg>
      <p:bgPr>
        <a:solidFill>
          <a:srgbClr val="CD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05DBA87-7AB9-4144-A17F-43A9C30380F1}"/>
              </a:ext>
            </a:extLst>
          </p:cNvPr>
          <p:cNvGrpSpPr/>
          <p:nvPr userDrawn="1"/>
        </p:nvGrpSpPr>
        <p:grpSpPr>
          <a:xfrm>
            <a:off x="2744511" y="869793"/>
            <a:ext cx="6692677" cy="5118415"/>
            <a:chOff x="1211282" y="869792"/>
            <a:chExt cx="6721435" cy="51184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CAA9C9-0BE4-5F43-B408-44CF4ECDD428}"/>
                </a:ext>
              </a:extLst>
            </p:cNvPr>
            <p:cNvSpPr/>
            <p:nvPr userDrawn="1"/>
          </p:nvSpPr>
          <p:spPr>
            <a:xfrm>
              <a:off x="1211282" y="869792"/>
              <a:ext cx="6721435" cy="5118415"/>
            </a:xfrm>
            <a:prstGeom prst="rect">
              <a:avLst/>
            </a:prstGeom>
            <a:solidFill>
              <a:srgbClr val="E223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5" name="KCL-LOGO-INTERNATIONAL.png">
              <a:extLst>
                <a:ext uri="{FF2B5EF4-FFF2-40B4-BE49-F238E27FC236}">
                  <a16:creationId xmlns:a16="http://schemas.microsoft.com/office/drawing/2014/main" id="{B036F538-478A-B641-903C-F7985F6DF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r:link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24655" y="1671090"/>
              <a:ext cx="5127602" cy="3554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8894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wo statues in front of Bush House building&#10;&#10;">
            <a:extLst>
              <a:ext uri="{FF2B5EF4-FFF2-40B4-BE49-F238E27FC236}">
                <a16:creationId xmlns:a16="http://schemas.microsoft.com/office/drawing/2014/main" id="{F4793EB2-2819-E843-A12D-5A71221FF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6275" y="0"/>
            <a:ext cx="8125725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8102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arge brick building with a sign in front of it&#10;&#10;Description automatically generated with medium confidence">
            <a:extLst>
              <a:ext uri="{FF2B5EF4-FFF2-40B4-BE49-F238E27FC236}">
                <a16:creationId xmlns:a16="http://schemas.microsoft.com/office/drawing/2014/main" id="{6850A433-9891-9424-62CE-5B7142E9E2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1" r="26803"/>
          <a:stretch/>
        </p:blipFill>
        <p:spPr>
          <a:xfrm>
            <a:off x="4154555" y="0"/>
            <a:ext cx="8020878" cy="68572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1808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ush House entrance">
            <a:extLst>
              <a:ext uri="{FF2B5EF4-FFF2-40B4-BE49-F238E27FC236}">
                <a16:creationId xmlns:a16="http://schemas.microsoft.com/office/drawing/2014/main" id="{BB2856B8-0170-3D42-B170-7ED5ACB03B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2950" y="-736"/>
            <a:ext cx="8126158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1522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arge brick building with a sign in front of it&#10;&#10;Description automatically generated with medium confidence">
            <a:extLst>
              <a:ext uri="{FF2B5EF4-FFF2-40B4-BE49-F238E27FC236}">
                <a16:creationId xmlns:a16="http://schemas.microsoft.com/office/drawing/2014/main" id="{3A4DD4F8-76F5-A717-0A8F-608762CBB0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2" r="24679"/>
          <a:stretch/>
        </p:blipFill>
        <p:spPr>
          <a:xfrm>
            <a:off x="4065973" y="0"/>
            <a:ext cx="8116087" cy="6893221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748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ush House entrance">
            <a:extLst>
              <a:ext uri="{FF2B5EF4-FFF2-40B4-BE49-F238E27FC236}">
                <a16:creationId xmlns:a16="http://schemas.microsoft.com/office/drawing/2014/main" id="{BB2856B8-0170-3D42-B170-7ED5ACB03B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2950" y="-736"/>
            <a:ext cx="812615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872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duates standing in front of a crowd posing for the camera&#10;">
            <a:extLst>
              <a:ext uri="{FF2B5EF4-FFF2-40B4-BE49-F238E27FC236}">
                <a16:creationId xmlns:a16="http://schemas.microsoft.com/office/drawing/2014/main" id="{BE2D952E-64D5-A64E-9959-50F7F86788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3512" y="0"/>
            <a:ext cx="8125034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4653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duates standing in front of a crowd posing for the camera&#10;">
            <a:extLst>
              <a:ext uri="{FF2B5EF4-FFF2-40B4-BE49-F238E27FC236}">
                <a16:creationId xmlns:a16="http://schemas.microsoft.com/office/drawing/2014/main" id="{BE2D952E-64D5-A64E-9959-50F7F86788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3512" y="0"/>
            <a:ext cx="812503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1862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students walking around Strand Campus">
            <a:extLst>
              <a:ext uri="{FF2B5EF4-FFF2-40B4-BE49-F238E27FC236}">
                <a16:creationId xmlns:a16="http://schemas.microsoft.com/office/drawing/2014/main" id="{178B1CE5-1B5E-C947-8C99-B485A71AE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160" y="-736"/>
            <a:ext cx="8123738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4154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students walking around Strand Campus">
            <a:extLst>
              <a:ext uri="{FF2B5EF4-FFF2-40B4-BE49-F238E27FC236}">
                <a16:creationId xmlns:a16="http://schemas.microsoft.com/office/drawing/2014/main" id="{178B1CE5-1B5E-C947-8C99-B485A71AE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160" y="-736"/>
            <a:ext cx="812373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537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bullets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342900" indent="-3429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342900" indent="-3429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268715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537429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4pPr>
            <a:lvl5pPr marL="806144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5pPr>
            <a:lvl6pPr marL="2286000" indent="0">
              <a:buNone/>
              <a:defRPr/>
            </a:lvl6pPr>
          </a:lstStyle>
          <a:p>
            <a:r>
              <a:rPr lang="en-US" dirty="0"/>
              <a:t>First level bullet point (indent x0)</a:t>
            </a:r>
          </a:p>
          <a:p>
            <a:pPr lvl="3"/>
            <a:r>
              <a:rPr lang="en-US" dirty="0"/>
              <a:t>Second level bullet point (indent x1)</a:t>
            </a:r>
          </a:p>
          <a:p>
            <a:pPr lvl="4"/>
            <a:r>
              <a:rPr lang="en-US" dirty="0"/>
              <a:t>Third level bullet point (indent x2)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47274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 and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pPr marL="0" indent="0">
              <a:buNone/>
            </a:pPr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54215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GB" dirty="0"/>
              <a:t>Two columns – bullets only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50756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text/bullets and image – alt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1991"/>
            </a:lvl4pPr>
            <a:lvl5pPr marL="806144" indent="-268715">
              <a:defRPr sz="1991"/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7" y="1089025"/>
            <a:ext cx="5376333" cy="48609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21960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text/bullets and image – al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text/bullets and image – alt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1" y="1088356"/>
            <a:ext cx="5376333" cy="48609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19388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bullets and image – alt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bullets and image – alt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lang="en-GB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pPr lvl="0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7" y="1089025"/>
            <a:ext cx="5376333" cy="4860925"/>
          </a:xfrm>
        </p:spPr>
        <p:txBody>
          <a:bodyPr/>
          <a:lstStyle/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16388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bullets and image – al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Two columns – bullets and image – alt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342900" indent="-342900"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268714" indent="0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537429" indent="0">
              <a:buFont typeface="Arial" panose="020B0604020202020204" pitchFamily="34" charset="0"/>
              <a:buNone/>
              <a:defRPr sz="2000">
                <a:latin typeface="+mn-lt"/>
              </a:defRPr>
            </a:lvl5pPr>
            <a:lvl6pPr marL="2286000" indent="0">
              <a:buNone/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1" y="1088356"/>
            <a:ext cx="5376333" cy="4860925"/>
          </a:xfrm>
        </p:spPr>
        <p:txBody>
          <a:bodyPr/>
          <a:lstStyle/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43486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x1 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34C904-740B-E84D-B324-36B6DE7B23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9425" y="1049338"/>
            <a:ext cx="11233150" cy="475879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29D345-CF89-564D-B6D0-39BB56CBE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2063" y="5949280"/>
            <a:ext cx="11280263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531880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2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1" y="5949280"/>
            <a:ext cx="11232000" cy="548720"/>
          </a:xfrm>
        </p:spPr>
        <p:txBody>
          <a:bodyPr/>
          <a:lstStyle>
            <a:lvl1pPr marL="0" indent="0">
              <a:buNone/>
              <a:defRPr sz="1394"/>
            </a:lvl1pPr>
            <a:lvl2pPr marL="455234" indent="0">
              <a:buNone/>
              <a:defRPr sz="1195"/>
            </a:lvl2pPr>
            <a:lvl3pPr marL="910468" indent="0">
              <a:buNone/>
              <a:defRPr sz="996"/>
            </a:lvl3pPr>
            <a:lvl4pPr marL="1365702" indent="0">
              <a:buNone/>
              <a:defRPr sz="896"/>
            </a:lvl4pPr>
            <a:lvl5pPr marL="1820936" indent="0">
              <a:buNone/>
              <a:defRPr sz="896"/>
            </a:lvl5pPr>
            <a:lvl6pPr marL="2276170" indent="0">
              <a:buNone/>
              <a:defRPr sz="896"/>
            </a:lvl6pPr>
            <a:lvl7pPr marL="2731404" indent="0">
              <a:buNone/>
              <a:defRPr sz="896"/>
            </a:lvl7pPr>
            <a:lvl8pPr marL="3186638" indent="0">
              <a:buNone/>
              <a:defRPr sz="896"/>
            </a:lvl8pPr>
            <a:lvl9pPr marL="3641872" indent="0">
              <a:buNone/>
              <a:defRPr sz="896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2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5999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5999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x4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416929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1" y="5949280"/>
            <a:ext cx="11232000" cy="548720"/>
          </a:xfrm>
        </p:spPr>
        <p:txBody>
          <a:bodyPr/>
          <a:lstStyle>
            <a:lvl1pPr marL="0" indent="0">
              <a:buNone/>
              <a:defRPr sz="1394"/>
            </a:lvl1pPr>
            <a:lvl2pPr marL="455234" indent="0">
              <a:buNone/>
              <a:defRPr sz="1195"/>
            </a:lvl2pPr>
            <a:lvl3pPr marL="910468" indent="0">
              <a:buNone/>
              <a:defRPr sz="996"/>
            </a:lvl3pPr>
            <a:lvl4pPr marL="1365702" indent="0">
              <a:buNone/>
              <a:defRPr sz="896"/>
            </a:lvl4pPr>
            <a:lvl5pPr marL="1820936" indent="0">
              <a:buNone/>
              <a:defRPr sz="896"/>
            </a:lvl5pPr>
            <a:lvl6pPr marL="2276170" indent="0">
              <a:buNone/>
              <a:defRPr sz="896"/>
            </a:lvl6pPr>
            <a:lvl7pPr marL="2731404" indent="0">
              <a:buNone/>
              <a:defRPr sz="896"/>
            </a:lvl7pPr>
            <a:lvl8pPr marL="3186638" indent="0">
              <a:buNone/>
              <a:defRPr sz="896"/>
            </a:lvl8pPr>
            <a:lvl9pPr marL="3641872" indent="0">
              <a:buNone/>
              <a:defRPr sz="896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0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0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x6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6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6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02871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5373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75678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568666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ky blue">
    <p:bg>
      <p:bgPr>
        <a:solidFill>
          <a:srgbClr val="99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42053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D64C56-7BE9-5D41-824D-0319FFA616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9623" y="3420000"/>
            <a:ext cx="11231999" cy="25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b="1" dirty="0">
                <a:solidFill>
                  <a:schemeClr val="bg1"/>
                </a:solidFill>
              </a:rPr>
              <a:t>Contact details/for more information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1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2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3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+44 (0)20 7848 XXXX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 err="1">
                <a:solidFill>
                  <a:schemeClr val="bg1"/>
                </a:solidFill>
              </a:rPr>
              <a:t>xxxx@kcl.ac.uk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 err="1">
                <a:solidFill>
                  <a:schemeClr val="bg1"/>
                </a:solidFill>
              </a:rPr>
              <a:t>www.kcl.ac.uk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xxxx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9623" y="2184934"/>
            <a:ext cx="7662972" cy="1053665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 userDrawn="1"/>
        </p:nvGrpSpPr>
        <p:grpSpPr>
          <a:xfrm>
            <a:off x="10489316" y="1"/>
            <a:ext cx="1702684" cy="1303021"/>
            <a:chOff x="7949775" y="1"/>
            <a:chExt cx="1194225" cy="910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9" name="KCL-LOGO-UK-1.png"/>
            <p:cNvPicPr>
              <a:picLocks noChangeAspect="1"/>
            </p:cNvPicPr>
            <p:nvPr userDrawn="1"/>
          </p:nvPicPr>
          <p:blipFill>
            <a:blip r:embed="rId2" r:link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2F5BC61-7D93-C442-AAE8-F327F7EC18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623" y="6121401"/>
            <a:ext cx="11231999" cy="380749"/>
          </a:xfrm>
        </p:spPr>
        <p:txBody>
          <a:bodyPr wrap="square">
            <a:noAutofit/>
          </a:bodyPr>
          <a:lstStyle>
            <a:lvl1pPr marL="0" marR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buFont typeface="Arial"/>
              <a:buNone/>
              <a:tabLst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buFont typeface="Arial"/>
              <a:buNone/>
              <a:tabLst/>
              <a:defRPr/>
            </a:pPr>
            <a:r>
              <a:rPr lang="en-US" sz="1600" dirty="0">
                <a:latin typeface="Georgia" panose="02040502050405020303" pitchFamily="18" charset="0"/>
              </a:rPr>
              <a:t>© 2020 King’s College London. All rights reserved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53055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ADCF-D0CA-CF64-6261-89761AB8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F135D-430E-68AE-E9B7-83B96727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4624-0223-5041-BD13-AE5BA7BAECF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00FF8E-28AD-36BA-1434-5FCA3339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F0BC5-D5F4-0112-6A5D-BAE9B9D1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9CA2-208D-294A-A693-692BB18747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5982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Section Header">
  <p:cSld name="7_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2488688"/>
            <a:ext cx="9403080" cy="113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3E72"/>
              </a:buClr>
              <a:buSzPts val="4800"/>
              <a:buFont typeface="Arial"/>
              <a:buNone/>
              <a:defRPr sz="4800">
                <a:solidFill>
                  <a:srgbClr val="193E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11"/>
          <p:cNvPicPr preferRelativeResize="0"/>
          <p:nvPr/>
        </p:nvPicPr>
        <p:blipFill rotWithShape="1">
          <a:blip r:embed="rId3">
            <a:alphaModFix/>
          </a:blip>
          <a:srcRect l="34054" b="22345"/>
          <a:stretch/>
        </p:blipFill>
        <p:spPr>
          <a:xfrm>
            <a:off x="0" y="4812138"/>
            <a:ext cx="1737360" cy="2045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0129459" y="1714918"/>
            <a:ext cx="1579205" cy="11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11"/>
          <p:cNvPicPr preferRelativeResize="0"/>
          <p:nvPr/>
        </p:nvPicPr>
        <p:blipFill rotWithShape="1">
          <a:blip r:embed="rId5">
            <a:alphaModFix/>
          </a:blip>
          <a:srcRect t="3" r="6600" b="-36685"/>
          <a:stretch/>
        </p:blipFill>
        <p:spPr>
          <a:xfrm>
            <a:off x="436034" y="1131569"/>
            <a:ext cx="11387159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6700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531158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491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54" r:id="rId2"/>
    <p:sldLayoutId id="2147483758" r:id="rId3"/>
    <p:sldLayoutId id="2147483755" r:id="rId4"/>
    <p:sldLayoutId id="2147483762" r:id="rId5"/>
    <p:sldLayoutId id="2147483759" r:id="rId6"/>
    <p:sldLayoutId id="2147483756" r:id="rId7"/>
    <p:sldLayoutId id="2147483760" r:id="rId8"/>
    <p:sldLayoutId id="2147483757" r:id="rId9"/>
    <p:sldLayoutId id="2147483761" r:id="rId10"/>
    <p:sldLayoutId id="2147483734" r:id="rId11"/>
    <p:sldLayoutId id="2147483725" r:id="rId12"/>
    <p:sldLayoutId id="2147483753" r:id="rId13"/>
    <p:sldLayoutId id="2147483732" r:id="rId14"/>
    <p:sldLayoutId id="2147483733" r:id="rId15"/>
    <p:sldLayoutId id="2147483751" r:id="rId16"/>
    <p:sldLayoutId id="2147483752" r:id="rId17"/>
    <p:sldLayoutId id="2147483750" r:id="rId18"/>
    <p:sldLayoutId id="2147483729" r:id="rId19"/>
    <p:sldLayoutId id="2147483728" r:id="rId20"/>
    <p:sldLayoutId id="2147483667" r:id="rId21"/>
    <p:sldLayoutId id="2147483668" r:id="rId22"/>
    <p:sldLayoutId id="2147483669" r:id="rId23"/>
    <p:sldLayoutId id="2147483670" r:id="rId24"/>
    <p:sldLayoutId id="2147483745" r:id="rId25"/>
    <p:sldLayoutId id="2147483771" r:id="rId26"/>
    <p:sldLayoutId id="2147483772" r:id="rId27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0A2D50"/>
          </a:solidFill>
          <a:latin typeface="+mj-l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A51FB4-4CE5-F14B-23FF-03C28457B7FA}"/>
              </a:ext>
            </a:extLst>
          </p:cNvPr>
          <p:cNvSpPr/>
          <p:nvPr/>
        </p:nvSpPr>
        <p:spPr>
          <a:xfrm>
            <a:off x="0" y="5560226"/>
            <a:ext cx="4143737" cy="12977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F4094-AE10-0346-AAE0-F05B430E5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718" y="302678"/>
            <a:ext cx="3833019" cy="2953816"/>
          </a:xfrm>
        </p:spPr>
        <p:txBody>
          <a:bodyPr>
            <a:normAutofit/>
          </a:bodyPr>
          <a:lstStyle/>
          <a:p>
            <a:r>
              <a:rPr lang="en-US" sz="2800" dirty="0"/>
              <a:t>Word embeddings</a:t>
            </a:r>
            <a:br>
              <a:rPr lang="en-US" sz="2800" dirty="0"/>
            </a:br>
            <a:br>
              <a:rPr lang="en-US" sz="2800" dirty="0"/>
            </a:b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F7407-FC44-F2C2-F2F9-4B8B7FE1F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19" y="5835322"/>
            <a:ext cx="305084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862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F371-5D5B-3EAC-7034-787767A5B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a word as a vector of real numbers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D73FC-B30C-5B92-F61C-38C34FA60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0" y="3051113"/>
            <a:ext cx="11043725" cy="16188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3EDB5E-F5FD-3099-4FFB-616D37763870}"/>
              </a:ext>
            </a:extLst>
          </p:cNvPr>
          <p:cNvSpPr txBox="1"/>
          <p:nvPr/>
        </p:nvSpPr>
        <p:spPr>
          <a:xfrm>
            <a:off x="568568" y="5298831"/>
            <a:ext cx="5244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from Jay </a:t>
            </a:r>
            <a:r>
              <a:rPr lang="en-US" i="1" dirty="0" err="1"/>
              <a:t>Alammar</a:t>
            </a:r>
            <a:r>
              <a:rPr lang="en-US" i="1" dirty="0"/>
              <a:t>, The illustrated Word2Vec:</a:t>
            </a:r>
          </a:p>
          <a:p>
            <a:r>
              <a:rPr lang="en-US" i="1" dirty="0"/>
              <a:t>https://</a:t>
            </a:r>
            <a:r>
              <a:rPr lang="en-US" i="1" dirty="0" err="1"/>
              <a:t>jalammar.github.io</a:t>
            </a:r>
            <a:r>
              <a:rPr lang="en-US" i="1" dirty="0"/>
              <a:t>/illustrated-word2vec/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EEE71-9EDD-17A2-C4FB-019C291BA7F3}"/>
              </a:ext>
            </a:extLst>
          </p:cNvPr>
          <p:cNvSpPr txBox="1"/>
          <p:nvPr/>
        </p:nvSpPr>
        <p:spPr>
          <a:xfrm>
            <a:off x="480000" y="1250948"/>
            <a:ext cx="110822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we improve on our simple word vectors?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we use such a model to encode meaning?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Imagine this vector for the word “king”, (</a:t>
            </a:r>
            <a:r>
              <a:rPr lang="en-US" sz="2400" dirty="0" err="1"/>
              <a:t>GloVe</a:t>
            </a:r>
            <a:r>
              <a:rPr lang="en-US" sz="2400" dirty="0"/>
              <a:t> based vector, trained on Wikipedia):</a:t>
            </a:r>
          </a:p>
        </p:txBody>
      </p:sp>
    </p:spTree>
    <p:extLst>
      <p:ext uri="{BB962C8B-B14F-4D97-AF65-F5344CB8AC3E}">
        <p14:creationId xmlns:p14="http://schemas.microsoft.com/office/powerpoint/2010/main" val="399825219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F371-5D5B-3EAC-7034-787767A5B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Visualising</a:t>
            </a:r>
            <a:r>
              <a:rPr lang="en-US" dirty="0"/>
              <a:t> a vector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A7DAA-FD06-E09D-ECF4-A3DA8B269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7" y="2097096"/>
            <a:ext cx="11360618" cy="16660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FD8CA5-7236-1129-3ED8-CE5C10FF6D65}"/>
              </a:ext>
            </a:extLst>
          </p:cNvPr>
          <p:cNvSpPr txBox="1"/>
          <p:nvPr/>
        </p:nvSpPr>
        <p:spPr>
          <a:xfrm>
            <a:off x="474138" y="1036882"/>
            <a:ext cx="8271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can </a:t>
            </a:r>
            <a:r>
              <a:rPr lang="en-US" sz="2400" dirty="0" err="1"/>
              <a:t>visualise</a:t>
            </a:r>
            <a:r>
              <a:rPr lang="en-US" sz="2400" dirty="0"/>
              <a:t> this as bands of different </a:t>
            </a:r>
            <a:r>
              <a:rPr lang="en-US" sz="2400" dirty="0" err="1"/>
              <a:t>colours</a:t>
            </a:r>
            <a:r>
              <a:rPr lang="en-US" sz="2400" dirty="0"/>
              <a:t> and intensities:</a:t>
            </a:r>
          </a:p>
        </p:txBody>
      </p:sp>
    </p:spTree>
    <p:extLst>
      <p:ext uri="{BB962C8B-B14F-4D97-AF65-F5344CB8AC3E}">
        <p14:creationId xmlns:p14="http://schemas.microsoft.com/office/powerpoint/2010/main" val="177704067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F371-5D5B-3EAC-7034-787767A5B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vectors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DC0BB6-F50D-2032-3425-52911E519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0" y="1795584"/>
            <a:ext cx="9027415" cy="4685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AF72D6-5324-1F86-5A15-8F89B135C9B6}"/>
              </a:ext>
            </a:extLst>
          </p:cNvPr>
          <p:cNvSpPr txBox="1"/>
          <p:nvPr/>
        </p:nvSpPr>
        <p:spPr>
          <a:xfrm>
            <a:off x="362770" y="1008185"/>
            <a:ext cx="7079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Compare this word vector to vectors for other words:</a:t>
            </a:r>
          </a:p>
        </p:txBody>
      </p:sp>
    </p:spTree>
    <p:extLst>
      <p:ext uri="{BB962C8B-B14F-4D97-AF65-F5344CB8AC3E}">
        <p14:creationId xmlns:p14="http://schemas.microsoft.com/office/powerpoint/2010/main" val="84478975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ED920-5E8B-60C6-4532-2AB36B4E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the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FD96D-53E4-1F47-299C-586723E62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sz="2600" dirty="0"/>
              <a:t>We start with a large corpus of language – a collection of texts</a:t>
            </a:r>
          </a:p>
          <a:p>
            <a:r>
              <a:rPr lang="en-GB" sz="2600" dirty="0"/>
              <a:t>We initialise our model with a random vector of weights for each word in the corpus</a:t>
            </a:r>
          </a:p>
          <a:p>
            <a:r>
              <a:rPr lang="en-GB" sz="2600" dirty="0"/>
              <a:t>We show lots of examples from the corpus of words surrounded by their context to the model</a:t>
            </a:r>
          </a:p>
          <a:p>
            <a:endParaRPr lang="en-GB" sz="2600" dirty="0"/>
          </a:p>
          <a:p>
            <a:r>
              <a:rPr lang="en-GB" sz="2600" dirty="0"/>
              <a:t>E.g. for “on” we might have this example and word vectors</a:t>
            </a:r>
            <a:br>
              <a:rPr lang="en-GB" sz="2600" dirty="0"/>
            </a:br>
            <a:endParaRPr lang="en-GB" sz="2600" dirty="0"/>
          </a:p>
          <a:p>
            <a:pPr lvl="3"/>
            <a:r>
              <a:rPr lang="en-GB" sz="2600" dirty="0"/>
              <a:t>cat sat on the mat</a:t>
            </a:r>
          </a:p>
          <a:p>
            <a:pPr lvl="3"/>
            <a:r>
              <a:rPr lang="en-GB" sz="2600" dirty="0"/>
              <a:t>c1  c2  w  c3  c4</a:t>
            </a:r>
          </a:p>
          <a:p>
            <a:pPr lvl="3"/>
            <a:r>
              <a:rPr lang="en-GB" sz="2600" dirty="0"/>
              <a:t>The model predicts the probability of seeing this example</a:t>
            </a:r>
          </a:p>
          <a:p>
            <a:pPr lvl="3"/>
            <a:r>
              <a:rPr lang="en-GB" sz="2600" dirty="0"/>
              <a:t>We compare this probability to what we really see in our corpus</a:t>
            </a:r>
          </a:p>
          <a:p>
            <a:pPr lvl="3"/>
            <a:r>
              <a:rPr lang="en-GB" sz="2600" dirty="0"/>
              <a:t>Adjust vector weights slightly to make the model prediction higher: maximise the probability of the example</a:t>
            </a:r>
          </a:p>
          <a:p>
            <a:pPr lvl="3"/>
            <a:endParaRPr lang="en-GB" sz="2600" dirty="0"/>
          </a:p>
          <a:p>
            <a:r>
              <a:rPr lang="en-GB" sz="2600" dirty="0"/>
              <a:t>We also present examples where our word has been replaced by a random word</a:t>
            </a:r>
          </a:p>
          <a:p>
            <a:endParaRPr lang="en-GB" sz="2600" dirty="0"/>
          </a:p>
          <a:p>
            <a:r>
              <a:rPr lang="en-GB" sz="2600" dirty="0"/>
              <a:t>E.g. we might replace “on” with “strawberry” (chosen at random)</a:t>
            </a:r>
            <a:br>
              <a:rPr lang="en-GB" sz="2600" dirty="0"/>
            </a:br>
            <a:endParaRPr lang="en-GB" sz="2600" dirty="0"/>
          </a:p>
          <a:p>
            <a:pPr lvl="3"/>
            <a:r>
              <a:rPr lang="en-GB" sz="2600" dirty="0"/>
              <a:t>cat sat strawberry the mat</a:t>
            </a:r>
          </a:p>
          <a:p>
            <a:pPr lvl="3"/>
            <a:r>
              <a:rPr lang="en-GB" sz="2600" dirty="0"/>
              <a:t>c1  c2  w’  c3  c4</a:t>
            </a:r>
          </a:p>
          <a:p>
            <a:pPr lvl="3"/>
            <a:r>
              <a:rPr lang="en-GB" sz="2600" dirty="0"/>
              <a:t>Adjust vector weights to make this model prediction lower: minimise the probability of random replacements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85854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A0177-8A29-378E-D1A2-357C7472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the vectors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C8341D-0DCF-E7BC-D292-1019C295C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2" y="1020564"/>
            <a:ext cx="10017312" cy="570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4618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4DD28-61F5-2FBF-25EE-5F3190F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EFC1-9EF2-2EDD-7FC7-8C0B565BC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Consider that “on” and “by” play similar roles in language: </a:t>
            </a:r>
          </a:p>
          <a:p>
            <a:pPr lvl="3"/>
            <a:r>
              <a:rPr lang="en-GB" sz="2800" dirty="0"/>
              <a:t>cat sat on the mat</a:t>
            </a:r>
          </a:p>
          <a:p>
            <a:pPr lvl="3"/>
            <a:r>
              <a:rPr lang="en-GB" sz="2800" dirty="0"/>
              <a:t>cat sat by the mat</a:t>
            </a:r>
          </a:p>
          <a:p>
            <a:r>
              <a:rPr lang="en-GB" sz="2800" dirty="0"/>
              <a:t>We would expect “on” and “by” to have similar feature vectors</a:t>
            </a:r>
          </a:p>
          <a:p>
            <a:r>
              <a:rPr lang="en-GB" sz="2800" dirty="0"/>
              <a:t>And for the other words, we can generalize further:</a:t>
            </a:r>
          </a:p>
          <a:p>
            <a:pPr lvl="3"/>
            <a:r>
              <a:rPr lang="en-GB" sz="2800" dirty="0"/>
              <a:t>dog sits on a rug</a:t>
            </a:r>
          </a:p>
          <a:p>
            <a:pPr lvl="3"/>
            <a:r>
              <a:rPr lang="en-GB" sz="2800" dirty="0"/>
              <a:t>dog lies under a rug</a:t>
            </a:r>
          </a:p>
          <a:p>
            <a:pPr lvl="3"/>
            <a:r>
              <a:rPr lang="en-GB" sz="2800" dirty="0"/>
              <a:t>…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75978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B8EB-7E41-65E1-A5B3-C311C8BC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24D1-9343-B33C-59A6-B871ECBAC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If two words have similar contexts, then their feature vectors will be similar</a:t>
            </a:r>
          </a:p>
          <a:p>
            <a:r>
              <a:rPr lang="en-GB" sz="2800" dirty="0"/>
              <a:t>The final feature vector for a word gives a distributed representation of the word – </a:t>
            </a:r>
            <a:r>
              <a:rPr lang="en-GB" sz="2800" b="1" i="1" dirty="0"/>
              <a:t>word embeddings </a:t>
            </a:r>
            <a:r>
              <a:rPr lang="en-GB" sz="2800" dirty="0"/>
              <a:t>– a dimensionality reduction from our word space to real number vectors</a:t>
            </a:r>
          </a:p>
          <a:p>
            <a:r>
              <a:rPr lang="en-GB" sz="2800" dirty="0"/>
              <a:t>We use these word embedding as features in place of our words in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0261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0BA2-912C-5A1B-A204-0DAD336A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Visualisation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B7F0BC-CD74-381C-274E-0419B8BF9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0" y="1106853"/>
            <a:ext cx="6152618" cy="48250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08BE7F-2C77-75A7-7228-47DE4A06B0B9}"/>
              </a:ext>
            </a:extLst>
          </p:cNvPr>
          <p:cNvSpPr txBox="1"/>
          <p:nvPr/>
        </p:nvSpPr>
        <p:spPr>
          <a:xfrm>
            <a:off x="480000" y="6126542"/>
            <a:ext cx="5965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2D projection from </a:t>
            </a:r>
            <a:r>
              <a:rPr lang="en-US" i="1" dirty="0" err="1"/>
              <a:t>Mikolov</a:t>
            </a:r>
            <a:r>
              <a:rPr lang="en-US" i="1" dirty="0"/>
              <a:t> et al, Google Research, NIPS 2013</a:t>
            </a:r>
          </a:p>
        </p:txBody>
      </p:sp>
    </p:spTree>
    <p:extLst>
      <p:ext uri="{BB962C8B-B14F-4D97-AF65-F5344CB8AC3E}">
        <p14:creationId xmlns:p14="http://schemas.microsoft.com/office/powerpoint/2010/main" val="324904253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2C016-0890-6528-736B-9BB28DDC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Visualisation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A26086-B0FD-A15F-3D0D-063D95AB1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0" y="1147395"/>
            <a:ext cx="8168104" cy="46789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F35F5B-D7FE-04AB-7E4C-FC719652F716}"/>
              </a:ext>
            </a:extLst>
          </p:cNvPr>
          <p:cNvSpPr txBox="1"/>
          <p:nvPr/>
        </p:nvSpPr>
        <p:spPr>
          <a:xfrm>
            <a:off x="480000" y="6126542"/>
            <a:ext cx="5965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2D projection from </a:t>
            </a:r>
            <a:r>
              <a:rPr lang="en-US" i="1" dirty="0" err="1"/>
              <a:t>Mikolov</a:t>
            </a:r>
            <a:r>
              <a:rPr lang="en-US" i="1" dirty="0"/>
              <a:t> et al, Google Research, NIPS 2013</a:t>
            </a:r>
          </a:p>
        </p:txBody>
      </p:sp>
    </p:spTree>
    <p:extLst>
      <p:ext uri="{BB962C8B-B14F-4D97-AF65-F5344CB8AC3E}">
        <p14:creationId xmlns:p14="http://schemas.microsoft.com/office/powerpoint/2010/main" val="373611819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B7BBB-BDEE-0645-B9B4-BC16FFC452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695B9B-A7BB-114B-9B0A-D884141025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 err="1"/>
              <a:t>angus.roberts@kcl.ac.uk</a:t>
            </a:r>
            <a:br>
              <a:rPr lang="en-GB" dirty="0"/>
            </a:br>
            <a:r>
              <a:rPr lang="en-GB" dirty="0"/>
              <a:t>https://</a:t>
            </a:r>
            <a:r>
              <a:rPr lang="en-GB" dirty="0" err="1"/>
              <a:t>www.kcl.ac.uk</a:t>
            </a:r>
            <a:r>
              <a:rPr lang="en-GB" dirty="0"/>
              <a:t>/people/angus-</a:t>
            </a:r>
            <a:r>
              <a:rPr lang="en-GB" dirty="0" err="1"/>
              <a:t>roberts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9036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KCL CTEL presentation template_180112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t" anchorCtr="0"/>
      <a:lstStyle>
        <a:defPPr algn="l">
          <a:defRPr sz="1400" b="1" dirty="0" smtClean="0">
            <a:solidFill>
              <a:schemeClr val="tx1"/>
            </a:solidFill>
            <a:cs typeface="Georgia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2558F287BC8344AD539CDC4DA17FBC" ma:contentTypeVersion="10" ma:contentTypeDescription="Create a new document." ma:contentTypeScope="" ma:versionID="165e8038d85e89d0753c71c915416bd7">
  <xsd:schema xmlns:xsd="http://www.w3.org/2001/XMLSchema" xmlns:xs="http://www.w3.org/2001/XMLSchema" xmlns:p="http://schemas.microsoft.com/office/2006/metadata/properties" xmlns:ns2="a9a9e2ba-2d19-46fe-bf54-0255447a607c" xmlns:ns3="8e67869f-b319-4f8e-812d-d2b9322169ce" targetNamespace="http://schemas.microsoft.com/office/2006/metadata/properties" ma:root="true" ma:fieldsID="abf99e3026b4072fe3426938b59b700a" ns2:_="" ns3:_="">
    <xsd:import namespace="a9a9e2ba-2d19-46fe-bf54-0255447a607c"/>
    <xsd:import namespace="8e67869f-b319-4f8e-812d-d2b9322169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9e2ba-2d19-46fe-bf54-0255447a60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67869f-b319-4f8e-812d-d2b9322169c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9C8777-C6EC-4528-A529-B1E15BCDF7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57E6C-04A0-4EB4-9DC4-971645A5D1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a9e2ba-2d19-46fe-bf54-0255447a607c"/>
    <ds:schemaRef ds:uri="8e67869f-b319-4f8e-812d-d2b9322169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1B4FFAB-A2D9-4FD5-855F-F65126373F7D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8e67869f-b319-4f8e-812d-d2b9322169ce"/>
    <ds:schemaRef ds:uri="http://purl.org/dc/terms/"/>
    <ds:schemaRef ds:uri="a9a9e2ba-2d19-46fe-bf54-0255447a60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10478</TotalTime>
  <Words>450</Words>
  <Application>Microsoft Macintosh PowerPoint</Application>
  <PresentationFormat>Widescreen</PresentationFormat>
  <Paragraphs>53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KCL CTEL presentation template_180112</vt:lpstr>
      <vt:lpstr>Word embeddings  </vt:lpstr>
      <vt:lpstr>Representing a word as a vector of real numbers</vt:lpstr>
      <vt:lpstr>Visualising a vector</vt:lpstr>
      <vt:lpstr>Comparing vectors</vt:lpstr>
      <vt:lpstr>Learning the vectors</vt:lpstr>
      <vt:lpstr>Learning the vectors</vt:lpstr>
      <vt:lpstr>Intuition</vt:lpstr>
      <vt:lpstr>Intuition</vt:lpstr>
      <vt:lpstr>Visualisation</vt:lpstr>
      <vt:lpstr>Visualisation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Harrison, Sue</dc:creator>
  <cp:lastModifiedBy>Angus Roberts</cp:lastModifiedBy>
  <cp:revision>177</cp:revision>
  <dcterms:created xsi:type="dcterms:W3CDTF">2018-06-13T12:38:06Z</dcterms:created>
  <dcterms:modified xsi:type="dcterms:W3CDTF">2026-01-20T11:25:28Z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0x010100B02558F287BC8344AD539CDC4DA17FBC</vt:lpwstr>
  </property>
</Properties>
</file>