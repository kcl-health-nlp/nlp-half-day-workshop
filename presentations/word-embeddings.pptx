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4"/>
  </p:notesMasterIdLst>
  <p:sldIdLst>
    <p:sldId id="311" r:id="rId5"/>
    <p:sldId id="321" r:id="rId6"/>
    <p:sldId id="319" r:id="rId7"/>
    <p:sldId id="315" r:id="rId8"/>
    <p:sldId id="313" r:id="rId9"/>
    <p:sldId id="314" r:id="rId10"/>
    <p:sldId id="316" r:id="rId11"/>
    <p:sldId id="317" r:id="rId12"/>
    <p:sldId id="30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06DE9B2-5587-B646-BEE3-5A646955262F}">
          <p14:sldIdLst>
            <p14:sldId id="311"/>
            <p14:sldId id="321"/>
            <p14:sldId id="319"/>
            <p14:sldId id="315"/>
            <p14:sldId id="313"/>
            <p14:sldId id="314"/>
            <p14:sldId id="316"/>
            <p14:sldId id="317"/>
            <p14:sldId id="303"/>
          </p14:sldIdLst>
        </p14:section>
        <p14:section name="End of presentation slide" id="{FA6E58FB-4655-4ADA-838A-304575EC2E6B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rty, Anne" initials="CA" lastIdx="5" clrIdx="0">
    <p:extLst>
      <p:ext uri="{19B8F6BF-5375-455C-9EA6-DF929625EA0E}">
        <p15:presenceInfo xmlns:p15="http://schemas.microsoft.com/office/powerpoint/2012/main" userId="S::k1771048@kcl.ac.uk::58c097d6-c91f-4fc1-8022-8a02e1ab2328" providerId="AD"/>
      </p:ext>
    </p:extLst>
  </p:cmAuthor>
  <p:cmAuthor id="2" name="user" initials="u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EA0"/>
    <a:srgbClr val="C8E128"/>
    <a:srgbClr val="0A2D50"/>
    <a:srgbClr val="5A6469"/>
    <a:srgbClr val="002395"/>
    <a:srgbClr val="501491"/>
    <a:srgbClr val="99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27F97BB-C833-4FB7-BDE5-3F7075034690}" styleName="Themed Style 2 –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–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86438" autoAdjust="0"/>
  </p:normalViewPr>
  <p:slideViewPr>
    <p:cSldViewPr snapToGrid="0">
      <p:cViewPr varScale="1">
        <p:scale>
          <a:sx n="109" d="100"/>
          <a:sy n="109" d="100"/>
        </p:scale>
        <p:origin x="1288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220CBB-D972-D444-8592-B23A7758CEF7}" type="datetimeFigureOut">
              <a:rPr lang="en-US" smtClean="0"/>
              <a:t>1/18/26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3B49CD-7E1B-C543-B23F-34FDB672E3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049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B49CD-7E1B-C543-B23F-34FDB672E37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6171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3B49CD-7E1B-C543-B23F-34FDB672E37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1077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file://localhost/Users/mac1/Desktop/KCL%20LOGO%20WOB.png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file://localhost/Users/mac1/Desktop/KCL_box_red_485_rgb.png" TargetMode="Externa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file://localhost/Users/mac1/Desktop/KCL_box_red_485_rgb.png" TargetMode="External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UK Cover slide">
    <p:bg>
      <p:bgPr>
        <a:solidFill>
          <a:srgbClr val="CDD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505DBA87-7AB9-4144-A17F-43A9C30380F1}"/>
              </a:ext>
            </a:extLst>
          </p:cNvPr>
          <p:cNvGrpSpPr/>
          <p:nvPr userDrawn="1"/>
        </p:nvGrpSpPr>
        <p:grpSpPr>
          <a:xfrm>
            <a:off x="2744511" y="869793"/>
            <a:ext cx="6692677" cy="5118415"/>
            <a:chOff x="1211282" y="869792"/>
            <a:chExt cx="6721435" cy="51184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ECAA9C9-0BE4-5F43-B408-44CF4ECDD428}"/>
                </a:ext>
              </a:extLst>
            </p:cNvPr>
            <p:cNvSpPr/>
            <p:nvPr userDrawn="1"/>
          </p:nvSpPr>
          <p:spPr>
            <a:xfrm>
              <a:off x="1211282" y="869792"/>
              <a:ext cx="6721435" cy="5118415"/>
            </a:xfrm>
            <a:prstGeom prst="rect">
              <a:avLst/>
            </a:prstGeom>
            <a:solidFill>
              <a:srgbClr val="E223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2"/>
            </a:p>
          </p:txBody>
        </p:sp>
        <p:pic>
          <p:nvPicPr>
            <p:cNvPr id="5" name="KCL-LOGO-INTERNATIONAL.png">
              <a:extLst>
                <a:ext uri="{FF2B5EF4-FFF2-40B4-BE49-F238E27FC236}">
                  <a16:creationId xmlns:a16="http://schemas.microsoft.com/office/drawing/2014/main" id="{B036F538-478A-B641-903C-F7985F6DF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r:link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024655" y="1671090"/>
              <a:ext cx="5127602" cy="355405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88949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Two statues in front of Bush House building&#10;&#10;">
            <a:extLst>
              <a:ext uri="{FF2B5EF4-FFF2-40B4-BE49-F238E27FC236}">
                <a16:creationId xmlns:a16="http://schemas.microsoft.com/office/drawing/2014/main" id="{F4793EB2-2819-E843-A12D-5A71221FF36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6275" y="0"/>
            <a:ext cx="8125725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 b="0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78102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arge brick building with a sign in front of it&#10;&#10;Description automatically generated with medium confidence">
            <a:extLst>
              <a:ext uri="{FF2B5EF4-FFF2-40B4-BE49-F238E27FC236}">
                <a16:creationId xmlns:a16="http://schemas.microsoft.com/office/drawing/2014/main" id="{6850A433-9891-9424-62CE-5B7142E9E2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01" r="26803"/>
          <a:stretch/>
        </p:blipFill>
        <p:spPr>
          <a:xfrm>
            <a:off x="4154555" y="0"/>
            <a:ext cx="8020878" cy="685726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 b="0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518081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ush House entrance">
            <a:extLst>
              <a:ext uri="{FF2B5EF4-FFF2-40B4-BE49-F238E27FC236}">
                <a16:creationId xmlns:a16="http://schemas.microsoft.com/office/drawing/2014/main" id="{BB2856B8-0170-3D42-B170-7ED5ACB03B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2950" y="-736"/>
            <a:ext cx="8126158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>
            <a:noAutofit/>
          </a:bodyPr>
          <a:lstStyle>
            <a:lvl1pPr>
              <a:defRPr sz="2000"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61522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arge brick building with a sign in front of it&#10;&#10;Description automatically generated with medium confidence">
            <a:extLst>
              <a:ext uri="{FF2B5EF4-FFF2-40B4-BE49-F238E27FC236}">
                <a16:creationId xmlns:a16="http://schemas.microsoft.com/office/drawing/2014/main" id="{3A4DD4F8-76F5-A717-0A8F-608762CBB0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92" r="24679"/>
          <a:stretch/>
        </p:blipFill>
        <p:spPr>
          <a:xfrm>
            <a:off x="4065973" y="0"/>
            <a:ext cx="8116087" cy="6893221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+mj-lt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>
            <a:noAutofit/>
          </a:bodyPr>
          <a:lstStyle>
            <a:lvl1pPr>
              <a:defRPr sz="2000"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0748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ush House entrance">
            <a:extLst>
              <a:ext uri="{FF2B5EF4-FFF2-40B4-BE49-F238E27FC236}">
                <a16:creationId xmlns:a16="http://schemas.microsoft.com/office/drawing/2014/main" id="{BB2856B8-0170-3D42-B170-7ED5ACB03B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2950" y="-736"/>
            <a:ext cx="812615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 i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38726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duates standing in front of a crowd posing for the camera&#10;">
            <a:extLst>
              <a:ext uri="{FF2B5EF4-FFF2-40B4-BE49-F238E27FC236}">
                <a16:creationId xmlns:a16="http://schemas.microsoft.com/office/drawing/2014/main" id="{BE2D952E-64D5-A64E-9959-50F7F86788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3512" y="0"/>
            <a:ext cx="8125034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146538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oup of graduates standing in front of a crowd posing for the camera&#10;">
            <a:extLst>
              <a:ext uri="{FF2B5EF4-FFF2-40B4-BE49-F238E27FC236}">
                <a16:creationId xmlns:a16="http://schemas.microsoft.com/office/drawing/2014/main" id="{BE2D952E-64D5-A64E-9959-50F7F86788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3512" y="0"/>
            <a:ext cx="8125034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318628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slide - joint - a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oup of students walking around Strand Campus">
            <a:extLst>
              <a:ext uri="{FF2B5EF4-FFF2-40B4-BE49-F238E27FC236}">
                <a16:creationId xmlns:a16="http://schemas.microsoft.com/office/drawing/2014/main" id="{178B1CE5-1B5E-C947-8C99-B485A71AE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160" y="-736"/>
            <a:ext cx="8123738" cy="6858000"/>
          </a:xfrm>
          <a:prstGeom prst="rect">
            <a:avLst/>
          </a:prstGeom>
        </p:spPr>
      </p:pic>
      <p:sp>
        <p:nvSpPr>
          <p:cNvPr id="16" name="Rectangle 15"/>
          <p:cNvSpPr/>
          <p:nvPr userDrawn="1"/>
        </p:nvSpPr>
        <p:spPr>
          <a:xfrm>
            <a:off x="0" y="-1"/>
            <a:ext cx="4065973" cy="5554979"/>
          </a:xfrm>
          <a:prstGeom prst="rect">
            <a:avLst/>
          </a:prstGeom>
          <a:solidFill>
            <a:srgbClr val="5A64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0"/>
          </p:nvPr>
        </p:nvSpPr>
        <p:spPr>
          <a:xfrm>
            <a:off x="310718" y="5733981"/>
            <a:ext cx="3551067" cy="94428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044154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slide - joint - alt 3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oup of students walking around Strand Campus">
            <a:extLst>
              <a:ext uri="{FF2B5EF4-FFF2-40B4-BE49-F238E27FC236}">
                <a16:creationId xmlns:a16="http://schemas.microsoft.com/office/drawing/2014/main" id="{178B1CE5-1B5E-C947-8C99-B485A71AE7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64160" y="-736"/>
            <a:ext cx="812373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10719" y="1297774"/>
            <a:ext cx="3551068" cy="2953816"/>
          </a:xfrm>
        </p:spPr>
        <p:txBody>
          <a:bodyPr anchor="t" anchorCtr="0">
            <a:normAutofit/>
          </a:bodyPr>
          <a:lstStyle>
            <a:lvl1pPr>
              <a:defRPr sz="40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10719" y="4316239"/>
            <a:ext cx="3551067" cy="891700"/>
          </a:xfrm>
        </p:spPr>
        <p:txBody>
          <a:bodyPr anchor="b" anchorCtr="0">
            <a:normAutofit/>
          </a:bodyPr>
          <a:lstStyle>
            <a:lvl1pPr marL="0" indent="0" algn="l">
              <a:buNone/>
              <a:defRPr sz="2400"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pic>
        <p:nvPicPr>
          <p:cNvPr id="9" name="KCL-LOGO-UK-1.png">
            <a:extLst>
              <a:ext uri="{FF2B5EF4-FFF2-40B4-BE49-F238E27FC236}">
                <a16:creationId xmlns:a16="http://schemas.microsoft.com/office/drawing/2014/main" id="{6744B5CB-C36A-49F5-A000-C34D59625344}"/>
              </a:ext>
            </a:extLst>
          </p:cNvPr>
          <p:cNvPicPr>
            <a:picLocks noChangeAspect="1"/>
          </p:cNvPicPr>
          <p:nvPr userDrawn="1"/>
        </p:nvPicPr>
        <p:blipFill>
          <a:blip r:embed="rId3" r:link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82000" y="736"/>
            <a:ext cx="1710000" cy="130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55378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bullets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342900" indent="-34290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342900" indent="-34290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Georgia"/>
                <a:ea typeface="+mn-ea"/>
                <a:cs typeface="Georgia"/>
              </a:defRPr>
            </a:lvl2pPr>
            <a:lvl3pPr marL="268715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Georgia"/>
                <a:ea typeface="+mn-ea"/>
                <a:cs typeface="Georgia"/>
              </a:defRPr>
            </a:lvl3pPr>
            <a:lvl4pPr marL="537429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4pPr>
            <a:lvl5pPr marL="806144" indent="-268715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Char char="•"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5pPr>
            <a:lvl6pPr marL="2286000" indent="0">
              <a:buNone/>
              <a:defRPr/>
            </a:lvl6pPr>
          </a:lstStyle>
          <a:p>
            <a:r>
              <a:rPr lang="en-US" dirty="0"/>
              <a:t>First level bullet point (indent x0)</a:t>
            </a:r>
          </a:p>
          <a:p>
            <a:pPr lvl="3"/>
            <a:r>
              <a:rPr lang="en-US" dirty="0"/>
              <a:t>Second level bullet point (indent x1)</a:t>
            </a:r>
          </a:p>
          <a:p>
            <a:pPr lvl="4"/>
            <a:r>
              <a:rPr lang="en-US" dirty="0"/>
              <a:t>Third level bullet point (indent x2)</a:t>
            </a: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rgbClr val="C2B6A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47274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- text and bullet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 and 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pPr marL="0" indent="0">
              <a:buNone/>
            </a:pPr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6542159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- bullets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GB" dirty="0"/>
              <a:t>Two columns – bullets only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pPr lvl="0"/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3507567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- text/bullets and image - alt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text/bullets and image – alt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1991"/>
            </a:lvl4pPr>
            <a:lvl5pPr marL="806144" indent="-268715">
              <a:defRPr sz="1991"/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335667" y="1089025"/>
            <a:ext cx="5376333" cy="48609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221960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text/bullets and image – al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text/bullets and image – alt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None/>
              <a:defRPr sz="2000" b="1">
                <a:solidFill>
                  <a:srgbClr val="0A2D50"/>
                </a:solidFill>
                <a:latin typeface="+mj-lt"/>
                <a:cs typeface="Impact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line of text/heading/intro would go here, remove bullet (indent x0)</a:t>
            </a:r>
          </a:p>
          <a:p>
            <a:pPr lvl="1"/>
            <a:r>
              <a:rPr lang="en-US" dirty="0"/>
              <a:t>Second line of text would go here (remove bullet, indent x1)</a:t>
            </a:r>
          </a:p>
          <a:p>
            <a:pPr lvl="2"/>
            <a:r>
              <a:rPr lang="en-US" dirty="0"/>
              <a:t>First level bullet point (indent x2)</a:t>
            </a:r>
          </a:p>
          <a:p>
            <a:pPr lvl="3"/>
            <a:r>
              <a:rPr lang="en-US" dirty="0"/>
              <a:t>Second level bullet point (indent x3)</a:t>
            </a:r>
          </a:p>
          <a:p>
            <a:pPr lvl="4"/>
            <a:r>
              <a:rPr lang="en-US" dirty="0"/>
              <a:t>Third level bullet point (indent x4)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480001" y="1088356"/>
            <a:ext cx="5376333" cy="4860925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119388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bullets and image – alt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>
                <a:latin typeface="+mj-lt"/>
              </a:defRPr>
            </a:lvl1pPr>
          </a:lstStyle>
          <a:p>
            <a:r>
              <a:rPr lang="en-US" dirty="0"/>
              <a:t>Two columns – bullets and image – alt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80000" y="1088721"/>
            <a:ext cx="5376000" cy="4860560"/>
          </a:xfrm>
        </p:spPr>
        <p:txBody>
          <a:bodyPr>
            <a:normAutofit/>
          </a:bodyPr>
          <a:lstStyle>
            <a:lvl1pPr marL="0" indent="0" algn="l" defTabSz="457200" rtl="0" eaLnBrk="1" latinLnBrk="0" hangingPunct="1">
              <a:lnSpc>
                <a:spcPct val="120000"/>
              </a:lnSpc>
              <a:spcBef>
                <a:spcPts val="0"/>
              </a:spcBef>
              <a:buClr>
                <a:srgbClr val="0A2D50"/>
              </a:buClr>
              <a:buFont typeface="Arial"/>
              <a:buNone/>
              <a:defRPr lang="en-GB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0" indent="0">
              <a:buNone/>
              <a:defRPr sz="2000">
                <a:latin typeface="+mn-lt"/>
              </a:defRPr>
            </a:lvl2pPr>
            <a:lvl3pPr marL="268715" indent="-268715">
              <a:defRPr sz="2000">
                <a:latin typeface="+mn-lt"/>
              </a:defRPr>
            </a:lvl3pPr>
            <a:lvl4pPr marL="537429" indent="-268715">
              <a:defRPr sz="2000">
                <a:latin typeface="+mn-lt"/>
              </a:defRPr>
            </a:lvl4pPr>
            <a:lvl5pPr marL="806144" indent="-268715">
              <a:defRPr sz="2000">
                <a:latin typeface="+mn-lt"/>
              </a:defRPr>
            </a:lvl5pPr>
            <a:lvl6pPr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pPr lvl="0"/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335667" y="1089025"/>
            <a:ext cx="5376333" cy="4860925"/>
          </a:xfrm>
        </p:spPr>
        <p:txBody>
          <a:bodyPr/>
          <a:lstStyle/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616388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– bullets and image – al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Two columns – bullets and image – alt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336000" y="1088721"/>
            <a:ext cx="5376000" cy="486056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lang="en-US" sz="2000" kern="1200" dirty="0" smtClean="0">
                <a:solidFill>
                  <a:schemeClr val="tx1"/>
                </a:solidFill>
                <a:latin typeface="+mn-lt"/>
                <a:ea typeface="+mn-ea"/>
                <a:cs typeface="Georgia"/>
              </a:defRPr>
            </a:lvl1pPr>
            <a:lvl2pPr marL="342900" indent="-342900">
              <a:buFont typeface="Arial" panose="020B0604020202020204" pitchFamily="34" charset="0"/>
              <a:buChar char="•"/>
              <a:defRPr sz="2000">
                <a:latin typeface="+mn-lt"/>
              </a:defRPr>
            </a:lvl2pPr>
            <a:lvl3pPr marL="342900" indent="-342900">
              <a:buFont typeface="Arial" panose="020B0604020202020204" pitchFamily="34" charset="0"/>
              <a:buChar char="•"/>
              <a:defRPr sz="2000">
                <a:latin typeface="+mn-lt"/>
              </a:defRPr>
            </a:lvl3pPr>
            <a:lvl4pPr marL="268714" indent="0">
              <a:buFont typeface="Arial" panose="020B0604020202020204" pitchFamily="34" charset="0"/>
              <a:buNone/>
              <a:defRPr sz="2000">
                <a:latin typeface="+mn-lt"/>
              </a:defRPr>
            </a:lvl4pPr>
            <a:lvl5pPr marL="537429" indent="0">
              <a:buFont typeface="Arial" panose="020B0604020202020204" pitchFamily="34" charset="0"/>
              <a:buNone/>
              <a:defRPr sz="2000">
                <a:latin typeface="+mn-lt"/>
              </a:defRPr>
            </a:lvl5pPr>
            <a:lvl6pPr marL="2286000" indent="0">
              <a:buNone/>
              <a:defRPr sz="1792"/>
            </a:lvl6pPr>
            <a:lvl7pPr>
              <a:defRPr sz="1792"/>
            </a:lvl7pPr>
            <a:lvl8pPr>
              <a:defRPr sz="1792"/>
            </a:lvl8pPr>
            <a:lvl9pPr>
              <a:defRPr sz="1792"/>
            </a:lvl9pPr>
          </a:lstStyle>
          <a:p>
            <a:r>
              <a:rPr lang="en-US" dirty="0"/>
              <a:t>First level bullet point (indent x0)</a:t>
            </a:r>
          </a:p>
          <a:p>
            <a:pPr lvl="1"/>
            <a:r>
              <a:rPr lang="en-US" dirty="0"/>
              <a:t>Second level bullet point (indent x1)</a:t>
            </a:r>
          </a:p>
          <a:p>
            <a:pPr lvl="2"/>
            <a:r>
              <a:rPr lang="en-US" dirty="0"/>
              <a:t>Third level bullet point (indent x2)</a:t>
            </a:r>
          </a:p>
          <a:p>
            <a:pPr lvl="3"/>
            <a:r>
              <a:rPr lang="en-US" dirty="0"/>
              <a:t>Fourth level bullet point (indent x3)</a:t>
            </a:r>
          </a:p>
          <a:p>
            <a:pPr lvl="4"/>
            <a:r>
              <a:rPr lang="en-US" dirty="0"/>
              <a:t>Fifth level bullet point (indent x4)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480001" y="1088356"/>
            <a:ext cx="5376333" cy="4860925"/>
          </a:xfrm>
        </p:spPr>
        <p:txBody>
          <a:bodyPr/>
          <a:lstStyle/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6434866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x1 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x1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rgbClr val="C2B6A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34C904-740B-E84D-B324-36B6DE7B233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9425" y="1049338"/>
            <a:ext cx="11233150" cy="475879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29D345-CF89-564D-B6D0-39BB56CBE9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2063" y="5949280"/>
            <a:ext cx="11280263" cy="54872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85318805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x 4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80002" y="1088720"/>
            <a:ext cx="5496000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01" y="5949280"/>
            <a:ext cx="11232000" cy="548720"/>
          </a:xfrm>
        </p:spPr>
        <p:txBody>
          <a:bodyPr/>
          <a:lstStyle>
            <a:lvl1pPr marL="0" indent="0">
              <a:buNone/>
              <a:defRPr sz="1394"/>
            </a:lvl1pPr>
            <a:lvl2pPr marL="455234" indent="0">
              <a:buNone/>
              <a:defRPr sz="1195"/>
            </a:lvl2pPr>
            <a:lvl3pPr marL="910468" indent="0">
              <a:buNone/>
              <a:defRPr sz="996"/>
            </a:lvl3pPr>
            <a:lvl4pPr marL="1365702" indent="0">
              <a:buNone/>
              <a:defRPr sz="896"/>
            </a:lvl4pPr>
            <a:lvl5pPr marL="1820936" indent="0">
              <a:buNone/>
              <a:defRPr sz="896"/>
            </a:lvl5pPr>
            <a:lvl6pPr marL="2276170" indent="0">
              <a:buNone/>
              <a:defRPr sz="896"/>
            </a:lvl6pPr>
            <a:lvl7pPr marL="2731404" indent="0">
              <a:buNone/>
              <a:defRPr sz="896"/>
            </a:lvl7pPr>
            <a:lvl8pPr marL="3186638" indent="0">
              <a:buNone/>
              <a:defRPr sz="896"/>
            </a:lvl8pPr>
            <a:lvl9pPr marL="3641872" indent="0">
              <a:buNone/>
              <a:defRPr sz="896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idx="13"/>
          </p:nvPr>
        </p:nvSpPr>
        <p:spPr>
          <a:xfrm>
            <a:off x="480002" y="3519000"/>
            <a:ext cx="5496000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8" name="Picture Placeholder 2"/>
          <p:cNvSpPr>
            <a:spLocks noGrp="1"/>
          </p:cNvSpPr>
          <p:nvPr>
            <p:ph type="pic" idx="14"/>
          </p:nvPr>
        </p:nvSpPr>
        <p:spPr>
          <a:xfrm>
            <a:off x="6215999" y="1088720"/>
            <a:ext cx="5499043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9" name="Picture Placeholder 2"/>
          <p:cNvSpPr>
            <a:spLocks noGrp="1"/>
          </p:cNvSpPr>
          <p:nvPr>
            <p:ph type="pic" idx="15"/>
          </p:nvPr>
        </p:nvSpPr>
        <p:spPr>
          <a:xfrm>
            <a:off x="6215999" y="3519000"/>
            <a:ext cx="5499043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x4</a:t>
            </a:r>
          </a:p>
        </p:txBody>
      </p:sp>
      <p:cxnSp>
        <p:nvCxnSpPr>
          <p:cNvPr id="14" name="Straight Connector 13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41692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x 6 with capt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80003" y="1088720"/>
            <a:ext cx="3600028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0001" y="5949280"/>
            <a:ext cx="11232000" cy="548720"/>
          </a:xfrm>
        </p:spPr>
        <p:txBody>
          <a:bodyPr/>
          <a:lstStyle>
            <a:lvl1pPr marL="0" indent="0">
              <a:buNone/>
              <a:defRPr sz="1394"/>
            </a:lvl1pPr>
            <a:lvl2pPr marL="455234" indent="0">
              <a:buNone/>
              <a:defRPr sz="1195"/>
            </a:lvl2pPr>
            <a:lvl3pPr marL="910468" indent="0">
              <a:buNone/>
              <a:defRPr sz="996"/>
            </a:lvl3pPr>
            <a:lvl4pPr marL="1365702" indent="0">
              <a:buNone/>
              <a:defRPr sz="896"/>
            </a:lvl4pPr>
            <a:lvl5pPr marL="1820936" indent="0">
              <a:buNone/>
              <a:defRPr sz="896"/>
            </a:lvl5pPr>
            <a:lvl6pPr marL="2276170" indent="0">
              <a:buNone/>
              <a:defRPr sz="896"/>
            </a:lvl6pPr>
            <a:lvl7pPr marL="2731404" indent="0">
              <a:buNone/>
              <a:defRPr sz="896"/>
            </a:lvl7pPr>
            <a:lvl8pPr marL="3186638" indent="0">
              <a:buNone/>
              <a:defRPr sz="896"/>
            </a:lvl8pPr>
            <a:lvl9pPr marL="3641872" indent="0">
              <a:buNone/>
              <a:defRPr sz="896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82063" y="6498000"/>
            <a:ext cx="964125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6D46D31-4F81-C84C-9C9E-CC304FB2B6EB}" type="datetimeFigureOut">
              <a:rPr lang="en-US" smtClean="0"/>
              <a:pPr/>
              <a:t>1/18/26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6188" y="6498000"/>
            <a:ext cx="9352013" cy="36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98200" y="6498000"/>
            <a:ext cx="964125" cy="360000"/>
          </a:xfrm>
          <a:prstGeom prst="rect">
            <a:avLst/>
          </a:prstGeom>
        </p:spPr>
        <p:txBody>
          <a:bodyPr vert="horz" lIns="91440" tIns="0" rIns="0" bIns="0" rtlCol="0" anchor="t" anchorCtr="0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Georgia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A04D54F-FA85-F344-8424-FB00D2AE8D0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Picture Placeholder 2"/>
          <p:cNvSpPr>
            <a:spLocks noGrp="1"/>
          </p:cNvSpPr>
          <p:nvPr>
            <p:ph type="pic" idx="13"/>
          </p:nvPr>
        </p:nvSpPr>
        <p:spPr>
          <a:xfrm>
            <a:off x="480003" y="3519000"/>
            <a:ext cx="3600028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 dirty="0"/>
              <a:t>Drag picture to placeholder or click icon to add</a:t>
            </a:r>
            <a:endParaRPr lang="en-US" dirty="0"/>
          </a:p>
        </p:txBody>
      </p:sp>
      <p:sp>
        <p:nvSpPr>
          <p:cNvPr id="18" name="Picture Placeholder 2"/>
          <p:cNvSpPr>
            <a:spLocks noGrp="1"/>
          </p:cNvSpPr>
          <p:nvPr>
            <p:ph type="pic" idx="14"/>
          </p:nvPr>
        </p:nvSpPr>
        <p:spPr>
          <a:xfrm>
            <a:off x="8111970" y="1088720"/>
            <a:ext cx="3603072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9" name="Picture Placeholder 2"/>
          <p:cNvSpPr>
            <a:spLocks noGrp="1"/>
          </p:cNvSpPr>
          <p:nvPr>
            <p:ph type="pic" idx="15"/>
          </p:nvPr>
        </p:nvSpPr>
        <p:spPr>
          <a:xfrm>
            <a:off x="8111970" y="3519000"/>
            <a:ext cx="3603072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Picture x6</a:t>
            </a:r>
          </a:p>
        </p:txBody>
      </p:sp>
      <p:sp>
        <p:nvSpPr>
          <p:cNvPr id="24" name="Picture Placeholder 2"/>
          <p:cNvSpPr>
            <a:spLocks noGrp="1"/>
          </p:cNvSpPr>
          <p:nvPr>
            <p:ph type="pic" idx="16"/>
          </p:nvPr>
        </p:nvSpPr>
        <p:spPr>
          <a:xfrm>
            <a:off x="4295986" y="1088720"/>
            <a:ext cx="3603072" cy="225028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sp>
        <p:nvSpPr>
          <p:cNvPr id="25" name="Picture Placeholder 2"/>
          <p:cNvSpPr>
            <a:spLocks noGrp="1"/>
          </p:cNvSpPr>
          <p:nvPr>
            <p:ph type="pic" idx="17"/>
          </p:nvPr>
        </p:nvSpPr>
        <p:spPr>
          <a:xfrm>
            <a:off x="4295986" y="3519000"/>
            <a:ext cx="3603072" cy="2254600"/>
          </a:xfrm>
        </p:spPr>
        <p:txBody>
          <a:bodyPr>
            <a:normAutofit/>
          </a:bodyPr>
          <a:lstStyle>
            <a:lvl1pPr marL="0" indent="0">
              <a:buNone/>
              <a:defRPr sz="1991"/>
            </a:lvl1pPr>
            <a:lvl2pPr marL="455234" indent="0">
              <a:buNone/>
              <a:defRPr sz="2788"/>
            </a:lvl2pPr>
            <a:lvl3pPr marL="910468" indent="0">
              <a:buNone/>
              <a:defRPr sz="2390"/>
            </a:lvl3pPr>
            <a:lvl4pPr marL="1365702" indent="0">
              <a:buNone/>
              <a:defRPr sz="1991"/>
            </a:lvl4pPr>
            <a:lvl5pPr marL="1820936" indent="0">
              <a:buNone/>
              <a:defRPr sz="1991"/>
            </a:lvl5pPr>
            <a:lvl6pPr marL="2276170" indent="0">
              <a:buNone/>
              <a:defRPr sz="1991"/>
            </a:lvl6pPr>
            <a:lvl7pPr marL="2731404" indent="0">
              <a:buNone/>
              <a:defRPr sz="1991"/>
            </a:lvl7pPr>
            <a:lvl8pPr marL="3186638" indent="0">
              <a:buNone/>
              <a:defRPr sz="1991"/>
            </a:lvl8pPr>
            <a:lvl9pPr marL="3641872" indent="0">
              <a:buNone/>
              <a:defRPr sz="1991"/>
            </a:lvl9pPr>
          </a:lstStyle>
          <a:p>
            <a:r>
              <a:rPr lang="en-GB"/>
              <a:t>Drag picture to placeholder or click icon to add</a:t>
            </a:r>
            <a:endParaRPr lang="en-US" dirty="0"/>
          </a:p>
        </p:txBody>
      </p:sp>
      <p:cxnSp>
        <p:nvCxnSpPr>
          <p:cNvPr id="20" name="Straight Connector 19"/>
          <p:cNvCxnSpPr/>
          <p:nvPr userDrawn="1"/>
        </p:nvCxnSpPr>
        <p:spPr>
          <a:xfrm>
            <a:off x="480001" y="909220"/>
            <a:ext cx="11232000" cy="0"/>
          </a:xfrm>
          <a:prstGeom prst="line">
            <a:avLst/>
          </a:prstGeom>
          <a:ln w="12700">
            <a:solidFill>
              <a:schemeClr val="bg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8028718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teal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55373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sea blu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75678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orang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10800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568666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vider - sky blue">
    <p:bg>
      <p:bgPr>
        <a:solidFill>
          <a:srgbClr val="9999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0000" y="4689281"/>
            <a:ext cx="11232000" cy="728721"/>
          </a:xfrm>
        </p:spPr>
        <p:txBody>
          <a:bodyPr>
            <a:normAutofit/>
          </a:bodyPr>
          <a:lstStyle>
            <a:lvl1pPr>
              <a:defRPr sz="45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80000" y="5598000"/>
            <a:ext cx="11232000" cy="891700"/>
          </a:xfrm>
        </p:spPr>
        <p:txBody>
          <a:bodyPr/>
          <a:lstStyle>
            <a:lvl1pPr marL="0" indent="0" algn="l">
              <a:buNone/>
              <a:defRPr>
                <a:solidFill>
                  <a:srgbClr val="FFFFFF"/>
                </a:solidFill>
                <a:latin typeface="+mn-lt"/>
                <a:cs typeface="Georgia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Section 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3420538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5A64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ED64C56-7BE9-5D41-824D-0319FFA616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89623" y="3420000"/>
            <a:ext cx="11231999" cy="2520000"/>
          </a:xfrm>
        </p:spPr>
        <p:txBody>
          <a:bodyPr>
            <a:no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b="1" dirty="0">
                <a:solidFill>
                  <a:schemeClr val="bg1"/>
                </a:solidFill>
              </a:rPr>
              <a:t>Contact details/for more information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1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2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Contact details 3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+44 (0)20 7848 XXXX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 err="1">
                <a:solidFill>
                  <a:schemeClr val="bg1"/>
                </a:solidFill>
              </a:rPr>
              <a:t>xxxx@kcl.ac.uk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 err="1">
                <a:solidFill>
                  <a:schemeClr val="bg1"/>
                </a:solidFill>
              </a:rPr>
              <a:t>www.kcl.ac.uk</a:t>
            </a:r>
            <a:r>
              <a:rPr lang="en-GB" dirty="0">
                <a:solidFill>
                  <a:schemeClr val="bg1"/>
                </a:solidFill>
              </a:rPr>
              <a:t>/</a:t>
            </a:r>
            <a:r>
              <a:rPr lang="en-GB" dirty="0" err="1">
                <a:solidFill>
                  <a:schemeClr val="bg1"/>
                </a:solidFill>
              </a:rPr>
              <a:t>xxxx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89623" y="2184934"/>
            <a:ext cx="7662972" cy="1053665"/>
          </a:xfrm>
        </p:spPr>
        <p:txBody>
          <a:bodyPr anchor="b" anchorCtr="0">
            <a:normAutofit/>
          </a:bodyPr>
          <a:lstStyle>
            <a:lvl1pPr>
              <a:defRPr sz="450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/>
              <a:t>Thank you</a:t>
            </a:r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 userDrawn="1"/>
        </p:nvGrpSpPr>
        <p:grpSpPr>
          <a:xfrm>
            <a:off x="10489316" y="1"/>
            <a:ext cx="1702684" cy="1303021"/>
            <a:chOff x="7949775" y="1"/>
            <a:chExt cx="1194225" cy="910000"/>
          </a:xfrm>
        </p:grpSpPr>
        <p:sp>
          <p:nvSpPr>
            <p:cNvPr id="8" name="Rectangle 7"/>
            <p:cNvSpPr/>
            <p:nvPr userDrawn="1"/>
          </p:nvSpPr>
          <p:spPr>
            <a:xfrm>
              <a:off x="7949775" y="1"/>
              <a:ext cx="1194225" cy="910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92"/>
            </a:p>
          </p:txBody>
        </p:sp>
        <p:pic>
          <p:nvPicPr>
            <p:cNvPr id="9" name="KCL-LOGO-UK-1.png"/>
            <p:cNvPicPr>
              <a:picLocks noChangeAspect="1"/>
            </p:cNvPicPr>
            <p:nvPr userDrawn="1"/>
          </p:nvPicPr>
          <p:blipFill>
            <a:blip r:embed="rId2" r:link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949775" y="258"/>
              <a:ext cx="1194225" cy="909486"/>
            </a:xfrm>
            <a:prstGeom prst="rect">
              <a:avLst/>
            </a:prstGeom>
          </p:spPr>
        </p:pic>
      </p:grp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62F5BC61-7D93-C442-AAE8-F327F7EC18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89623" y="6121401"/>
            <a:ext cx="11231999" cy="380749"/>
          </a:xfrm>
        </p:spPr>
        <p:txBody>
          <a:bodyPr wrap="square">
            <a:noAutofit/>
          </a:bodyPr>
          <a:lstStyle>
            <a:lvl1pPr marL="0" marR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2D50"/>
              </a:buClr>
              <a:buSzTx/>
              <a:buFont typeface="Arial"/>
              <a:buNone/>
              <a:tabLst/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2D50"/>
              </a:buClr>
              <a:buSzTx/>
              <a:buFont typeface="Arial"/>
              <a:buNone/>
              <a:tabLst/>
              <a:defRPr/>
            </a:pPr>
            <a:r>
              <a:rPr lang="en-US" sz="1600" dirty="0">
                <a:latin typeface="Georgia" panose="02040502050405020303" pitchFamily="18" charset="0"/>
              </a:rPr>
              <a:t>© 2020 King’s College London. All rights reserved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530559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7ADCF-D0CA-CF64-6261-89761AB8B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0F135D-430E-68AE-E9B7-83B967273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054624-0223-5041-BD13-AE5BA7BAECFD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00FF8E-28AD-36BA-1434-5FCA3339E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F0BC5-D5F4-0112-6A5D-BAE9B9D18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089CA2-208D-294A-A693-692BB187476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25982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Section Header">
  <p:cSld name="7_Section 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8200" y="2488688"/>
            <a:ext cx="9403080" cy="11334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3E72"/>
              </a:buClr>
              <a:buSzPts val="4800"/>
              <a:buFont typeface="Arial"/>
              <a:buNone/>
              <a:defRPr sz="4800">
                <a:solidFill>
                  <a:srgbClr val="193E7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sldNum" idx="12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rgbClr val="193E7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6" name="Google Shape;36;p11"/>
          <p:cNvPicPr preferRelativeResize="0"/>
          <p:nvPr/>
        </p:nvPicPr>
        <p:blipFill rotWithShape="1">
          <a:blip r:embed="rId3">
            <a:alphaModFix/>
          </a:blip>
          <a:srcRect l="34054" b="22345"/>
          <a:stretch/>
        </p:blipFill>
        <p:spPr>
          <a:xfrm>
            <a:off x="0" y="4812138"/>
            <a:ext cx="1737360" cy="2045862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10129459" y="1714918"/>
            <a:ext cx="1579205" cy="11844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11"/>
          <p:cNvPicPr preferRelativeResize="0"/>
          <p:nvPr/>
        </p:nvPicPr>
        <p:blipFill rotWithShape="1">
          <a:blip r:embed="rId5">
            <a:alphaModFix/>
          </a:blip>
          <a:srcRect t="3" r="6600" b="-36685"/>
          <a:stretch/>
        </p:blipFill>
        <p:spPr>
          <a:xfrm>
            <a:off x="436034" y="1131569"/>
            <a:ext cx="11387159" cy="457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6700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0000" y="180000"/>
            <a:ext cx="11232000" cy="720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0000" y="1089220"/>
            <a:ext cx="11232000" cy="531158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24916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54" r:id="rId2"/>
    <p:sldLayoutId id="2147483758" r:id="rId3"/>
    <p:sldLayoutId id="2147483755" r:id="rId4"/>
    <p:sldLayoutId id="2147483762" r:id="rId5"/>
    <p:sldLayoutId id="2147483759" r:id="rId6"/>
    <p:sldLayoutId id="2147483756" r:id="rId7"/>
    <p:sldLayoutId id="2147483760" r:id="rId8"/>
    <p:sldLayoutId id="2147483757" r:id="rId9"/>
    <p:sldLayoutId id="2147483761" r:id="rId10"/>
    <p:sldLayoutId id="2147483734" r:id="rId11"/>
    <p:sldLayoutId id="2147483725" r:id="rId12"/>
    <p:sldLayoutId id="2147483753" r:id="rId13"/>
    <p:sldLayoutId id="2147483732" r:id="rId14"/>
    <p:sldLayoutId id="2147483733" r:id="rId15"/>
    <p:sldLayoutId id="2147483751" r:id="rId16"/>
    <p:sldLayoutId id="2147483752" r:id="rId17"/>
    <p:sldLayoutId id="2147483750" r:id="rId18"/>
    <p:sldLayoutId id="2147483729" r:id="rId19"/>
    <p:sldLayoutId id="2147483728" r:id="rId20"/>
    <p:sldLayoutId id="2147483667" r:id="rId21"/>
    <p:sldLayoutId id="2147483668" r:id="rId22"/>
    <p:sldLayoutId id="2147483669" r:id="rId23"/>
    <p:sldLayoutId id="2147483670" r:id="rId24"/>
    <p:sldLayoutId id="2147483745" r:id="rId25"/>
    <p:sldLayoutId id="2147483771" r:id="rId26"/>
    <p:sldLayoutId id="2147483772" r:id="rId27"/>
  </p:sldLayoutIdLst>
  <p:transition>
    <p:fade/>
  </p:transition>
  <p:txStyles>
    <p:titleStyle>
      <a:lvl1pPr algn="l" defTabSz="457200" rtl="0" eaLnBrk="1" latinLnBrk="0" hangingPunct="1">
        <a:spcBef>
          <a:spcPct val="0"/>
        </a:spcBef>
        <a:buNone/>
        <a:defRPr sz="3200" b="1" kern="1200">
          <a:solidFill>
            <a:srgbClr val="0A2D50"/>
          </a:solidFill>
          <a:latin typeface="+mj-lt"/>
          <a:ea typeface="+mj-ea"/>
          <a:cs typeface="Impact"/>
        </a:defRPr>
      </a:lvl1pPr>
    </p:titleStyle>
    <p:bodyStyle>
      <a:lvl1pPr marL="269875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1pPr>
      <a:lvl2pPr marL="539750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2pPr>
      <a:lvl3pPr marL="809625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3pPr>
      <a:lvl4pPr marL="1079500" indent="-269875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4pPr>
      <a:lvl5pPr marL="1341438" indent="-261938" algn="l" defTabSz="457200" rtl="0" eaLnBrk="1" latinLnBrk="0" hangingPunct="1">
        <a:lnSpc>
          <a:spcPct val="120000"/>
        </a:lnSpc>
        <a:spcBef>
          <a:spcPts val="0"/>
        </a:spcBef>
        <a:buClr>
          <a:srgbClr val="0A2D50"/>
        </a:buClr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Georgia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2A51FB4-4CE5-F14B-23FF-03C28457B7FA}"/>
              </a:ext>
            </a:extLst>
          </p:cNvPr>
          <p:cNvSpPr/>
          <p:nvPr/>
        </p:nvSpPr>
        <p:spPr>
          <a:xfrm>
            <a:off x="0" y="5560226"/>
            <a:ext cx="4143737" cy="12977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l"/>
            <a:endParaRPr lang="en-US" sz="1400" b="1" dirty="0">
              <a:solidFill>
                <a:schemeClr val="tx1"/>
              </a:solidFill>
              <a:cs typeface="Georgi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BF4094-AE10-0346-AAE0-F05B430E5F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0718" y="302678"/>
            <a:ext cx="3833019" cy="2953816"/>
          </a:xfrm>
        </p:spPr>
        <p:txBody>
          <a:bodyPr>
            <a:normAutofit/>
          </a:bodyPr>
          <a:lstStyle/>
          <a:p>
            <a:r>
              <a:rPr lang="en-US" sz="2800" dirty="0"/>
              <a:t>Word embeddings</a:t>
            </a:r>
            <a:br>
              <a:rPr lang="en-US" sz="2800" dirty="0"/>
            </a:br>
            <a:br>
              <a:rPr lang="en-US" sz="2800" dirty="0"/>
            </a:br>
            <a:endParaRPr lang="en-US" sz="28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4F7407-FC44-F2C2-F2F9-4B8B7FE1F5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719" y="5835322"/>
            <a:ext cx="3050848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48862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0DA5A-14E6-B704-E1B8-D0290638C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Representing words as 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8FC37-F3E8-95EE-3243-A9170A188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need to pass numbers to our NLP models</a:t>
            </a:r>
          </a:p>
          <a:p>
            <a:r>
              <a:rPr lang="en-US" dirty="0"/>
              <a:t>One-hot is a simple word-space vector representation. Words are represented by a vector encoding their position in an ordered vocabulary</a:t>
            </a:r>
          </a:p>
          <a:p>
            <a:pPr marL="268714" lvl="3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aardvark			[1, 0, 0, 0, 0, …, 0, 0]</a:t>
            </a:r>
          </a:p>
          <a:p>
            <a:pPr marL="268714" lvl="3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abacus				[0, 1, 0, 0, 0, …, 0, 0]</a:t>
            </a:r>
          </a:p>
          <a:p>
            <a:pPr marL="268714" lvl="3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...					[...]</a:t>
            </a:r>
          </a:p>
          <a:p>
            <a:pPr marL="268714" lvl="3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zumba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		[0, 0, 0, 0, 0, …, 1, 0]</a:t>
            </a:r>
          </a:p>
          <a:p>
            <a:pPr marL="268714" lvl="3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zygote				[0, 0, 0, 0, 0, …, 0, 1]</a:t>
            </a:r>
          </a:p>
          <a:p>
            <a:r>
              <a:rPr lang="en-US" dirty="0"/>
              <a:t>As well as being necessary to represent our words numerically, it is also a step along the path of finding some abstraction of word meaning</a:t>
            </a:r>
          </a:p>
          <a:p>
            <a:r>
              <a:rPr lang="en-US" dirty="0"/>
              <a:t>Alternatively, we could encode as the integer position in the vocabulary</a:t>
            </a:r>
          </a:p>
          <a:p>
            <a:pPr marL="268714" lvl="3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aardvark			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abacus				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...					...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zumba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		n-1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	zygote				n</a:t>
            </a:r>
          </a:p>
        </p:txBody>
      </p:sp>
    </p:spTree>
    <p:extLst>
      <p:ext uri="{BB962C8B-B14F-4D97-AF65-F5344CB8AC3E}">
        <p14:creationId xmlns:p14="http://schemas.microsoft.com/office/powerpoint/2010/main" val="1430646209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310D2-3AB5-847E-5BDE-725208274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Representing words as 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9BE311-5199-9485-6F40-B17CA25F6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Such a vector representation does not really encode meaning</a:t>
            </a:r>
          </a:p>
          <a:p>
            <a:r>
              <a:rPr lang="en-US" dirty="0"/>
              <a:t>It is also high dimensional and sparse</a:t>
            </a:r>
          </a:p>
          <a:p>
            <a:r>
              <a:rPr lang="en-US" dirty="0"/>
              <a:t>Can we encode meaning such a vector representation?</a:t>
            </a:r>
          </a:p>
          <a:p>
            <a:r>
              <a:rPr lang="en-US" dirty="0"/>
              <a:t>Can we derive a low dimensional model of words?</a:t>
            </a:r>
          </a:p>
          <a:p>
            <a:endParaRPr lang="en-US" dirty="0"/>
          </a:p>
          <a:p>
            <a:r>
              <a:rPr lang="en-US" dirty="0"/>
              <a:t>What about the context vectors we have looked at? Would they be an improvement?</a:t>
            </a:r>
          </a:p>
        </p:txBody>
      </p:sp>
    </p:spTree>
    <p:extLst>
      <p:ext uri="{BB962C8B-B14F-4D97-AF65-F5344CB8AC3E}">
        <p14:creationId xmlns:p14="http://schemas.microsoft.com/office/powerpoint/2010/main" val="3784853298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6F371-5D5B-3EAC-7034-787767A5B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Intuition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7D73FC-B30C-5B92-F61C-38C34FA60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00" y="1722185"/>
            <a:ext cx="11043725" cy="16188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3EDB5E-F5FD-3099-4FFB-616D37763870}"/>
              </a:ext>
            </a:extLst>
          </p:cNvPr>
          <p:cNvSpPr txBox="1"/>
          <p:nvPr/>
        </p:nvSpPr>
        <p:spPr>
          <a:xfrm>
            <a:off x="568568" y="5298831"/>
            <a:ext cx="52444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Example from Jay </a:t>
            </a:r>
            <a:r>
              <a:rPr lang="en-US" i="1" dirty="0" err="1"/>
              <a:t>Alammar</a:t>
            </a:r>
            <a:r>
              <a:rPr lang="en-US" i="1" dirty="0"/>
              <a:t>, The illustrated Word2Vec:</a:t>
            </a:r>
          </a:p>
          <a:p>
            <a:r>
              <a:rPr lang="en-US" i="1" dirty="0"/>
              <a:t>https://</a:t>
            </a:r>
            <a:r>
              <a:rPr lang="en-US" i="1" dirty="0" err="1"/>
              <a:t>jalammar.github.io</a:t>
            </a:r>
            <a:r>
              <a:rPr lang="en-US" i="1" dirty="0"/>
              <a:t>/illustrated-word2vec/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4EEE71-9EDD-17A2-C4FB-019C291BA7F3}"/>
              </a:ext>
            </a:extLst>
          </p:cNvPr>
          <p:cNvSpPr txBox="1"/>
          <p:nvPr/>
        </p:nvSpPr>
        <p:spPr>
          <a:xfrm>
            <a:off x="480000" y="1080260"/>
            <a:ext cx="10266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Imagine a vector for the word “king”, (</a:t>
            </a:r>
            <a:r>
              <a:rPr lang="en-US" sz="2400" dirty="0" err="1"/>
              <a:t>GloVe</a:t>
            </a:r>
            <a:r>
              <a:rPr lang="en-US" sz="2400" dirty="0"/>
              <a:t> based vector, trained on Wikipedia):</a:t>
            </a:r>
          </a:p>
        </p:txBody>
      </p:sp>
    </p:spTree>
    <p:extLst>
      <p:ext uri="{BB962C8B-B14F-4D97-AF65-F5344CB8AC3E}">
        <p14:creationId xmlns:p14="http://schemas.microsoft.com/office/powerpoint/2010/main" val="3998252195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6F371-5D5B-3EAC-7034-787767A5B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Intuition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AA7DAA-FD06-E09D-ECF4-A3DA8B269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37" y="2097096"/>
            <a:ext cx="11360618" cy="16660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FD8CA5-7236-1129-3ED8-CE5C10FF6D65}"/>
              </a:ext>
            </a:extLst>
          </p:cNvPr>
          <p:cNvSpPr txBox="1"/>
          <p:nvPr/>
        </p:nvSpPr>
        <p:spPr>
          <a:xfrm>
            <a:off x="474138" y="1036882"/>
            <a:ext cx="82711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can </a:t>
            </a:r>
            <a:r>
              <a:rPr lang="en-US" sz="2400" dirty="0" err="1"/>
              <a:t>visualise</a:t>
            </a:r>
            <a:r>
              <a:rPr lang="en-US" sz="2400" dirty="0"/>
              <a:t> this as bands of different </a:t>
            </a:r>
            <a:r>
              <a:rPr lang="en-US" sz="2400" dirty="0" err="1"/>
              <a:t>colours</a:t>
            </a:r>
            <a:r>
              <a:rPr lang="en-US" sz="2400" dirty="0"/>
              <a:t> and intensities:</a:t>
            </a:r>
          </a:p>
        </p:txBody>
      </p:sp>
    </p:spTree>
    <p:extLst>
      <p:ext uri="{BB962C8B-B14F-4D97-AF65-F5344CB8AC3E}">
        <p14:creationId xmlns:p14="http://schemas.microsoft.com/office/powerpoint/2010/main" val="177704067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6F371-5D5B-3EAC-7034-787767A5B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Intuition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DC0BB6-F50D-2032-3425-52911E519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00" y="1795584"/>
            <a:ext cx="9027415" cy="468598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AF72D6-5324-1F86-5A15-8F89B135C9B6}"/>
              </a:ext>
            </a:extLst>
          </p:cNvPr>
          <p:cNvSpPr txBox="1"/>
          <p:nvPr/>
        </p:nvSpPr>
        <p:spPr>
          <a:xfrm>
            <a:off x="362770" y="1008185"/>
            <a:ext cx="70791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Compare this word vector to vectors for other words:</a:t>
            </a:r>
          </a:p>
        </p:txBody>
      </p:sp>
    </p:spTree>
    <p:extLst>
      <p:ext uri="{BB962C8B-B14F-4D97-AF65-F5344CB8AC3E}">
        <p14:creationId xmlns:p14="http://schemas.microsoft.com/office/powerpoint/2010/main" val="84478975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20BA2-912C-5A1B-A204-0DAD336AB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Visualisation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B7F0BC-CD74-381C-274E-0419B8BF9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00" y="1106853"/>
            <a:ext cx="6152618" cy="482502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008BE7F-2C77-75A7-7228-47DE4A06B0B9}"/>
              </a:ext>
            </a:extLst>
          </p:cNvPr>
          <p:cNvSpPr txBox="1"/>
          <p:nvPr/>
        </p:nvSpPr>
        <p:spPr>
          <a:xfrm>
            <a:off x="480000" y="6126542"/>
            <a:ext cx="5965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2D projection from </a:t>
            </a:r>
            <a:r>
              <a:rPr lang="en-US" i="1" dirty="0" err="1"/>
              <a:t>Mikolov</a:t>
            </a:r>
            <a:r>
              <a:rPr lang="en-US" i="1" dirty="0"/>
              <a:t> et al, Google Research, NIPS 2013</a:t>
            </a:r>
          </a:p>
        </p:txBody>
      </p:sp>
    </p:spTree>
    <p:extLst>
      <p:ext uri="{BB962C8B-B14F-4D97-AF65-F5344CB8AC3E}">
        <p14:creationId xmlns:p14="http://schemas.microsoft.com/office/powerpoint/2010/main" val="324904253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2C016-0890-6528-736B-9BB28DDCC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Visualisation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A26086-B0FD-A15F-3D0D-063D95AB1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00" y="1147395"/>
            <a:ext cx="8168104" cy="46789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F35F5B-D7FE-04AB-7E4C-FC719652F716}"/>
              </a:ext>
            </a:extLst>
          </p:cNvPr>
          <p:cNvSpPr txBox="1"/>
          <p:nvPr/>
        </p:nvSpPr>
        <p:spPr>
          <a:xfrm>
            <a:off x="480000" y="6126542"/>
            <a:ext cx="5965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2D projection from </a:t>
            </a:r>
            <a:r>
              <a:rPr lang="en-US" i="1" dirty="0" err="1"/>
              <a:t>Mikolov</a:t>
            </a:r>
            <a:r>
              <a:rPr lang="en-US" i="1" dirty="0"/>
              <a:t> et al, Google Research, NIPS 2013</a:t>
            </a:r>
          </a:p>
        </p:txBody>
      </p:sp>
    </p:spTree>
    <p:extLst>
      <p:ext uri="{BB962C8B-B14F-4D97-AF65-F5344CB8AC3E}">
        <p14:creationId xmlns:p14="http://schemas.microsoft.com/office/powerpoint/2010/main" val="3736118193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BB7BBB-BDEE-0645-B9B4-BC16FFC452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E695B9B-A7BB-114B-9B0A-D884141025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br>
              <a:rPr lang="en-GB" dirty="0"/>
            </a:br>
            <a:r>
              <a:rPr lang="en-GB" dirty="0" err="1"/>
              <a:t>angus.roberts@kcl.ac.uk</a:t>
            </a:r>
            <a:br>
              <a:rPr lang="en-GB" dirty="0"/>
            </a:br>
            <a:r>
              <a:rPr lang="en-GB" dirty="0"/>
              <a:t>https://</a:t>
            </a:r>
            <a:r>
              <a:rPr lang="en-GB" dirty="0" err="1"/>
              <a:t>www.kcl.ac.uk</a:t>
            </a:r>
            <a:r>
              <a:rPr lang="en-GB" dirty="0"/>
              <a:t>/people/angus-</a:t>
            </a:r>
            <a:r>
              <a:rPr lang="en-GB" dirty="0" err="1"/>
              <a:t>roberts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59036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KCL CTEL presentation template_180112">
  <a:themeElements>
    <a:clrScheme name="KCL">
      <a:dk1>
        <a:sysClr val="windowText" lastClr="000000"/>
      </a:dk1>
      <a:lt1>
        <a:sysClr val="window" lastClr="FFFFFF"/>
      </a:lt1>
      <a:dk2>
        <a:srgbClr val="0A2D50"/>
      </a:dk2>
      <a:lt2>
        <a:srgbClr val="CDD7DC"/>
      </a:lt2>
      <a:accent1>
        <a:srgbClr val="E2231A"/>
      </a:accent1>
      <a:accent2>
        <a:srgbClr val="FF5F05"/>
      </a:accent2>
      <a:accent3>
        <a:srgbClr val="F5B90F"/>
      </a:accent3>
      <a:accent4>
        <a:srgbClr val="C8E128"/>
      </a:accent4>
      <a:accent5>
        <a:srgbClr val="009EA0"/>
      </a:accent5>
      <a:accent6>
        <a:srgbClr val="005AD2"/>
      </a:accent6>
      <a:hlink>
        <a:srgbClr val="E2231A"/>
      </a:hlink>
      <a:folHlink>
        <a:srgbClr val="E2231A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  <a:effectLst/>
      </a:spPr>
      <a:bodyPr rtlCol="0" anchor="t" anchorCtr="0"/>
      <a:lstStyle>
        <a:defPPr algn="l">
          <a:defRPr sz="1400" b="1" dirty="0" smtClean="0">
            <a:solidFill>
              <a:schemeClr val="tx1"/>
            </a:solidFill>
            <a:cs typeface="Georgia"/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02558F287BC8344AD539CDC4DA17FBC" ma:contentTypeVersion="10" ma:contentTypeDescription="Create a new document." ma:contentTypeScope="" ma:versionID="165e8038d85e89d0753c71c915416bd7">
  <xsd:schema xmlns:xsd="http://www.w3.org/2001/XMLSchema" xmlns:xs="http://www.w3.org/2001/XMLSchema" xmlns:p="http://schemas.microsoft.com/office/2006/metadata/properties" xmlns:ns2="a9a9e2ba-2d19-46fe-bf54-0255447a607c" xmlns:ns3="8e67869f-b319-4f8e-812d-d2b9322169ce" targetNamespace="http://schemas.microsoft.com/office/2006/metadata/properties" ma:root="true" ma:fieldsID="abf99e3026b4072fe3426938b59b700a" ns2:_="" ns3:_="">
    <xsd:import namespace="a9a9e2ba-2d19-46fe-bf54-0255447a607c"/>
    <xsd:import namespace="8e67869f-b319-4f8e-812d-d2b9322169c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9e2ba-2d19-46fe-bf54-0255447a607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67869f-b319-4f8e-812d-d2b9322169c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1B57E6C-04A0-4EB4-9DC4-971645A5D1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a9e2ba-2d19-46fe-bf54-0255447a607c"/>
    <ds:schemaRef ds:uri="8e67869f-b319-4f8e-812d-d2b9322169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A9C8777-C6EC-4528-A529-B1E15BCDF7A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1B4FFAB-A2D9-4FD5-855F-F65126373F7D}">
  <ds:schemaRefs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8e67869f-b319-4f8e-812d-d2b9322169ce"/>
    <ds:schemaRef ds:uri="http://purl.org/dc/terms/"/>
    <ds:schemaRef ds:uri="a9a9e2ba-2d19-46fe-bf54-0255447a607c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10445</TotalTime>
  <Words>387</Words>
  <Application>Microsoft Macintosh PowerPoint</Application>
  <PresentationFormat>Widescreen</PresentationFormat>
  <Paragraphs>39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Georgia</vt:lpstr>
      <vt:lpstr>KCL CTEL presentation template_180112</vt:lpstr>
      <vt:lpstr>Word embeddings  </vt:lpstr>
      <vt:lpstr>Representing words as vectors</vt:lpstr>
      <vt:lpstr>Representing words as vectors</vt:lpstr>
      <vt:lpstr>Intuition</vt:lpstr>
      <vt:lpstr>Intuition</vt:lpstr>
      <vt:lpstr>Intuition</vt:lpstr>
      <vt:lpstr>Visualisation</vt:lpstr>
      <vt:lpstr>Visualisation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Harrison, Sue</dc:creator>
  <cp:lastModifiedBy>Angus Roberts</cp:lastModifiedBy>
  <cp:revision>174</cp:revision>
  <dcterms:created xsi:type="dcterms:W3CDTF">2018-06-13T12:38:06Z</dcterms:created>
  <dcterms:modified xsi:type="dcterms:W3CDTF">2026-01-18T20:10:26Z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0x010100B02558F287BC8344AD539CDC4DA17FBC</vt:lpwstr>
  </property>
</Properties>
</file>